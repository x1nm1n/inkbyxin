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C55E"/>
    <a:srgbClr val="616161"/>
    <a:srgbClr val="F36E16"/>
    <a:srgbClr val="3B7BFF"/>
    <a:srgbClr val="0B9C92"/>
    <a:srgbClr val="EF4444"/>
    <a:srgbClr val="13B8A6"/>
    <a:srgbClr val="000000"/>
    <a:srgbClr val="7B8290"/>
    <a:srgbClr val="3F4A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9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6T08:06:34.575"/>
    </inkml:context>
    <inkml:brush xml:id="br0">
      <inkml:brushProperty name="width" value="0.035" units="cm"/>
      <inkml:brushProperty name="height" value="0.035" units="cm"/>
      <inkml:brushProperty name="color" value="#0B9C92"/>
      <inkml:brushProperty name="ignorePressure" value="1"/>
    </inkml:brush>
  </inkml:definitions>
  <inkml:trace contextRef="#ctx0" brushRef="#br0">0 1,'0'1386,"0"-1383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6T08:08:58.290"/>
    </inkml:context>
    <inkml:brush xml:id="br0">
      <inkml:brushProperty name="width" value="0.035" units="cm"/>
      <inkml:brushProperty name="height" value="0.035" units="cm"/>
      <inkml:brushProperty name="color" value="#3B7BFF"/>
      <inkml:brushProperty name="ignorePressure" value="1"/>
    </inkml:brush>
  </inkml:definitions>
  <inkml:trace contextRef="#ctx0" brushRef="#br0">0 1,'0'1386,"0"-1383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6T08:14:42.947"/>
    </inkml:context>
    <inkml:brush xml:id="br0">
      <inkml:brushProperty name="width" value="0.035" units="cm"/>
      <inkml:brushProperty name="height" value="0.035" units="cm"/>
      <inkml:brushProperty name="color" value="#F36E16"/>
      <inkml:brushProperty name="ignorePressure" value="1"/>
    </inkml:brush>
  </inkml:definitions>
  <inkml:trace contextRef="#ctx0" brushRef="#br0">0 1,'0'1386,"0"-1383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6T08:18:25.978"/>
    </inkml:context>
    <inkml:brush xml:id="br0">
      <inkml:brushProperty name="width" value="0.035" units="cm"/>
      <inkml:brushProperty name="height" value="0.035" units="cm"/>
      <inkml:brushProperty name="color" value="#22C55E"/>
      <inkml:brushProperty name="ignorePressure" value="1"/>
    </inkml:brush>
  </inkml:definitions>
  <inkml:trace contextRef="#ctx0" brushRef="#br0">0 1,'0'1386,"0"-1383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38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customXml" Target="../ink/ink1.xml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27">
            <a:extLst>
              <a:ext uri="{FF2B5EF4-FFF2-40B4-BE49-F238E27FC236}">
                <a16:creationId xmlns:a16="http://schemas.microsoft.com/office/drawing/2014/main" id="{46EB40DC-01C0-B82A-B005-D6F7693A53C0}"/>
              </a:ext>
            </a:extLst>
          </p:cNvPr>
          <p:cNvSpPr/>
          <p:nvPr/>
        </p:nvSpPr>
        <p:spPr>
          <a:xfrm>
            <a:off x="694944" y="4114207"/>
            <a:ext cx="4726394" cy="1852015"/>
          </a:xfrm>
          <a:prstGeom prst="roundRect">
            <a:avLst>
              <a:gd name="adj" fmla="val 1333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C2D43F9C-7665-307B-08AD-6861FD3E28FE}"/>
              </a:ext>
            </a:extLst>
          </p:cNvPr>
          <p:cNvSpPr/>
          <p:nvPr/>
        </p:nvSpPr>
        <p:spPr>
          <a:xfrm>
            <a:off x="2423222" y="4547426"/>
            <a:ext cx="2966566" cy="31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Xinmin Giuseppe Farano</a:t>
            </a:r>
            <a:endParaRPr lang="en-US" sz="1150" dirty="0"/>
          </a:p>
        </p:txBody>
      </p:sp>
      <p:sp>
        <p:nvSpPr>
          <p:cNvPr id="53" name="Text 29">
            <a:extLst>
              <a:ext uri="{FF2B5EF4-FFF2-40B4-BE49-F238E27FC236}">
                <a16:creationId xmlns:a16="http://schemas.microsoft.com/office/drawing/2014/main" id="{61793A48-0BB2-B1CA-AF48-21868DA008C0}"/>
              </a:ext>
            </a:extLst>
          </p:cNvPr>
          <p:cNvSpPr/>
          <p:nvPr/>
        </p:nvSpPr>
        <p:spPr>
          <a:xfrm>
            <a:off x="2423221" y="4876610"/>
            <a:ext cx="2715163" cy="30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Matricola: 70/94/00219</a:t>
            </a:r>
            <a:endParaRPr lang="en-US" sz="95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1F992141-373A-A53C-CD19-1BDAE4670EA8}"/>
              </a:ext>
            </a:extLst>
          </p:cNvPr>
          <p:cNvSpPr/>
          <p:nvPr/>
        </p:nvSpPr>
        <p:spPr>
          <a:xfrm>
            <a:off x="2423222" y="5205794"/>
            <a:ext cx="2966566" cy="30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github.com/X1nm1n/project_2026</a:t>
            </a:r>
            <a:endParaRPr lang="en-US" sz="95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1965960"/>
            <a:ext cx="51663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per la </a:t>
            </a:r>
            <a:r>
              <a:rPr lang="en-US" sz="39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gestione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degli </a:t>
            </a:r>
            <a:r>
              <a:rPr lang="en-US" sz="39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eventi</a:t>
            </a:r>
            <a:endParaRPr lang="en-US" sz="3900" dirty="0"/>
          </a:p>
        </p:txBody>
      </p:sp>
      <p:sp>
        <p:nvSpPr>
          <p:cNvPr id="21" name="Shape 19"/>
          <p:cNvSpPr/>
          <p:nvPr/>
        </p:nvSpPr>
        <p:spPr>
          <a:xfrm>
            <a:off x="694944" y="34107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68096" y="3514747"/>
            <a:ext cx="72237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19072" y="341071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792224" y="3514747"/>
            <a:ext cx="9052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SQLModel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44368" y="34107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017520" y="3514747"/>
            <a:ext cx="72237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77640" y="341071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050792" y="3514747"/>
            <a:ext cx="13624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67283" y="1156784"/>
            <a:ext cx="5382766" cy="3643816"/>
          </a:xfrm>
          <a:prstGeom prst="roundRect">
            <a:avLst>
              <a:gd name="adj" fmla="val 3171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6277011" y="1266512"/>
            <a:ext cx="5136696" cy="284395"/>
          </a:xfrm>
          <a:prstGeom prst="roundRect">
            <a:avLst>
              <a:gd name="adj" fmla="val 37500"/>
            </a:avLst>
          </a:prstGeom>
          <a:solidFill>
            <a:srgbClr val="F1F5F9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6395882" y="1357952"/>
            <a:ext cx="82023" cy="71099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6533042" y="1357952"/>
            <a:ext cx="82023" cy="7109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6670202" y="1357952"/>
            <a:ext cx="82023" cy="71099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0" descr="/mnt/data/pptmedia/image12.png"/>
          <p:cNvPicPr>
            <a:picLocks noChangeAspect="1"/>
          </p:cNvPicPr>
          <p:nvPr/>
        </p:nvPicPr>
        <p:blipFill>
          <a:blip r:embed="rId3"/>
          <a:srcRect l="8504" r="8504" b="13514"/>
          <a:stretch>
            <a:fillRect/>
          </a:stretch>
        </p:blipFill>
        <p:spPr>
          <a:xfrm>
            <a:off x="6277011" y="1660635"/>
            <a:ext cx="5136696" cy="3014882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6687314" y="5271584"/>
            <a:ext cx="4370832" cy="585216"/>
          </a:xfrm>
          <a:prstGeom prst="roundRect">
            <a:avLst>
              <a:gd name="adj" fmla="val 20313"/>
            </a:avLst>
          </a:prstGeom>
          <a:solidFill>
            <a:srgbClr val="DDF7F3"/>
          </a:solidFill>
          <a:ln w="12700">
            <a:solidFill>
              <a:srgbClr val="13B8A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6951485" y="5406864"/>
            <a:ext cx="3842490" cy="3191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it-IT" sz="11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completo: interfaccia web, API, database e test automatici</a:t>
            </a:r>
            <a:endParaRPr lang="en-US" sz="1150" dirty="0"/>
          </a:p>
        </p:txBody>
      </p:sp>
      <p:pic>
        <p:nvPicPr>
          <p:cNvPr id="40" name="Immagine 39">
            <a:extLst>
              <a:ext uri="{FF2B5EF4-FFF2-40B4-BE49-F238E27FC236}">
                <a16:creationId xmlns:a16="http://schemas.microsoft.com/office/drawing/2014/main" id="{55B05A6B-5B84-8ED0-BCC9-12E6491BA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37" y="4402757"/>
            <a:ext cx="1039469" cy="1298873"/>
          </a:xfrm>
          <a:prstGeom prst="round2DiagRect">
            <a:avLst>
              <a:gd name="adj1" fmla="val 16667"/>
              <a:gd name="adj2" fmla="val 6044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7" name="Text 3">
            <a:extLst>
              <a:ext uri="{FF2B5EF4-FFF2-40B4-BE49-F238E27FC236}">
                <a16:creationId xmlns:a16="http://schemas.microsoft.com/office/drawing/2014/main" id="{8566D5BA-E692-7B4A-00DA-19CBC569A426}"/>
              </a:ext>
            </a:extLst>
          </p:cNvPr>
          <p:cNvSpPr/>
          <p:nvPr/>
        </p:nvSpPr>
        <p:spPr>
          <a:xfrm>
            <a:off x="646075" y="594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79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DI PROGRAMMAZIONE WEB 2026</a:t>
            </a:r>
            <a:endParaRPr lang="en-US" sz="85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1DBB5F5C-E840-2134-D128-A9474E6AB6F4}"/>
              </a:ext>
            </a:extLst>
          </p:cNvPr>
          <p:cNvSpPr/>
          <p:nvPr/>
        </p:nvSpPr>
        <p:spPr>
          <a:xfrm>
            <a:off x="664363" y="969264"/>
            <a:ext cx="786384" cy="786384"/>
          </a:xfrm>
          <a:prstGeom prst="roundRect">
            <a:avLst>
              <a:gd name="adj" fmla="val 13953"/>
            </a:avLst>
          </a:prstGeom>
          <a:solidFill>
            <a:srgbClr val="E8FFFB"/>
          </a:solidFill>
          <a:ln w="16510">
            <a:solidFill>
              <a:srgbClr val="13B8A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Shape 5">
            <a:extLst>
              <a:ext uri="{FF2B5EF4-FFF2-40B4-BE49-F238E27FC236}">
                <a16:creationId xmlns:a16="http://schemas.microsoft.com/office/drawing/2014/main" id="{32C73D22-CA52-875B-1282-3FC1E30D5609}"/>
              </a:ext>
            </a:extLst>
          </p:cNvPr>
          <p:cNvSpPr/>
          <p:nvPr/>
        </p:nvSpPr>
        <p:spPr>
          <a:xfrm>
            <a:off x="783235" y="1124712"/>
            <a:ext cx="548640" cy="118872"/>
          </a:xfrm>
          <a:prstGeom prst="rect">
            <a:avLst/>
          </a:prstGeom>
          <a:solidFill>
            <a:srgbClr val="13B8A7"/>
          </a:solidFill>
          <a:ln w="12700">
            <a:solidFill>
              <a:srgbClr val="13B8A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2323BF87-EB7D-AEF2-E22C-8E7D77174AC2}"/>
              </a:ext>
            </a:extLst>
          </p:cNvPr>
          <p:cNvSpPr/>
          <p:nvPr/>
        </p:nvSpPr>
        <p:spPr>
          <a:xfrm>
            <a:off x="828955" y="1129284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</a:t>
            </a:r>
            <a:endParaRPr lang="en-US" sz="550" dirty="0"/>
          </a:p>
        </p:txBody>
      </p:sp>
      <p:sp>
        <p:nvSpPr>
          <p:cNvPr id="65" name="Shape 7">
            <a:extLst>
              <a:ext uri="{FF2B5EF4-FFF2-40B4-BE49-F238E27FC236}">
                <a16:creationId xmlns:a16="http://schemas.microsoft.com/office/drawing/2014/main" id="{4724CEED-27E7-C52A-5D2E-ADB06AB8877C}"/>
              </a:ext>
            </a:extLst>
          </p:cNvPr>
          <p:cNvSpPr/>
          <p:nvPr/>
        </p:nvSpPr>
        <p:spPr>
          <a:xfrm>
            <a:off x="783235" y="1307592"/>
            <a:ext cx="128016" cy="5029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7620">
            <a:solidFill>
              <a:srgbClr val="C8D2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Shape 8">
            <a:extLst>
              <a:ext uri="{FF2B5EF4-FFF2-40B4-BE49-F238E27FC236}">
                <a16:creationId xmlns:a16="http://schemas.microsoft.com/office/drawing/2014/main" id="{3AD56AD8-00DC-9C74-9FFF-EDA315096AD1}"/>
              </a:ext>
            </a:extLst>
          </p:cNvPr>
          <p:cNvSpPr/>
          <p:nvPr/>
        </p:nvSpPr>
        <p:spPr>
          <a:xfrm>
            <a:off x="984403" y="1307592"/>
            <a:ext cx="128016" cy="5029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7620">
            <a:solidFill>
              <a:srgbClr val="C8D2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Shape 9">
            <a:extLst>
              <a:ext uri="{FF2B5EF4-FFF2-40B4-BE49-F238E27FC236}">
                <a16:creationId xmlns:a16="http://schemas.microsoft.com/office/drawing/2014/main" id="{3A444764-72EF-5DF4-12EA-8277C3045F94}"/>
              </a:ext>
            </a:extLst>
          </p:cNvPr>
          <p:cNvSpPr/>
          <p:nvPr/>
        </p:nvSpPr>
        <p:spPr>
          <a:xfrm>
            <a:off x="1185571" y="1307592"/>
            <a:ext cx="128016" cy="5029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7620">
            <a:solidFill>
              <a:srgbClr val="C8D2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Shape 10">
            <a:extLst>
              <a:ext uri="{FF2B5EF4-FFF2-40B4-BE49-F238E27FC236}">
                <a16:creationId xmlns:a16="http://schemas.microsoft.com/office/drawing/2014/main" id="{A6D3494D-AF33-411E-F8A7-DACCCE4EB70E}"/>
              </a:ext>
            </a:extLst>
          </p:cNvPr>
          <p:cNvSpPr/>
          <p:nvPr/>
        </p:nvSpPr>
        <p:spPr>
          <a:xfrm>
            <a:off x="783235" y="1435608"/>
            <a:ext cx="128016" cy="5029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7620">
            <a:solidFill>
              <a:srgbClr val="C8D2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D04D7F2C-4FB1-83E7-F699-00047F44BCD4}"/>
              </a:ext>
            </a:extLst>
          </p:cNvPr>
          <p:cNvSpPr/>
          <p:nvPr/>
        </p:nvSpPr>
        <p:spPr>
          <a:xfrm>
            <a:off x="984403" y="1435608"/>
            <a:ext cx="128016" cy="5029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7620">
            <a:solidFill>
              <a:srgbClr val="C8D2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Shape 12">
            <a:extLst>
              <a:ext uri="{FF2B5EF4-FFF2-40B4-BE49-F238E27FC236}">
                <a16:creationId xmlns:a16="http://schemas.microsoft.com/office/drawing/2014/main" id="{3AD9FA07-4580-546A-4E27-D324A651A1B3}"/>
              </a:ext>
            </a:extLst>
          </p:cNvPr>
          <p:cNvSpPr/>
          <p:nvPr/>
        </p:nvSpPr>
        <p:spPr>
          <a:xfrm>
            <a:off x="1185571" y="1435608"/>
            <a:ext cx="128016" cy="5029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7620">
            <a:solidFill>
              <a:srgbClr val="C8D2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Shape 13">
            <a:extLst>
              <a:ext uri="{FF2B5EF4-FFF2-40B4-BE49-F238E27FC236}">
                <a16:creationId xmlns:a16="http://schemas.microsoft.com/office/drawing/2014/main" id="{31E9CA36-CF18-FE6D-CA8B-40BBB4B02E39}"/>
              </a:ext>
            </a:extLst>
          </p:cNvPr>
          <p:cNvSpPr/>
          <p:nvPr/>
        </p:nvSpPr>
        <p:spPr>
          <a:xfrm>
            <a:off x="783235" y="1563624"/>
            <a:ext cx="128016" cy="5029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762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Shape 14">
            <a:extLst>
              <a:ext uri="{FF2B5EF4-FFF2-40B4-BE49-F238E27FC236}">
                <a16:creationId xmlns:a16="http://schemas.microsoft.com/office/drawing/2014/main" id="{1A1FA486-C6ED-A803-2A37-7D8771D37A39}"/>
              </a:ext>
            </a:extLst>
          </p:cNvPr>
          <p:cNvSpPr/>
          <p:nvPr/>
        </p:nvSpPr>
        <p:spPr>
          <a:xfrm>
            <a:off x="984403" y="1563624"/>
            <a:ext cx="128016" cy="5029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762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Shape 15">
            <a:extLst>
              <a:ext uri="{FF2B5EF4-FFF2-40B4-BE49-F238E27FC236}">
                <a16:creationId xmlns:a16="http://schemas.microsoft.com/office/drawing/2014/main" id="{8462A85D-6ADA-76DD-4CCE-7766BD3EFFEA}"/>
              </a:ext>
            </a:extLst>
          </p:cNvPr>
          <p:cNvSpPr/>
          <p:nvPr/>
        </p:nvSpPr>
        <p:spPr>
          <a:xfrm>
            <a:off x="1185571" y="1563624"/>
            <a:ext cx="128016" cy="5029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7620">
            <a:solidFill>
              <a:srgbClr val="C8D2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3" name="Text 47">
            <a:extLst>
              <a:ext uri="{FF2B5EF4-FFF2-40B4-BE49-F238E27FC236}">
                <a16:creationId xmlns:a16="http://schemas.microsoft.com/office/drawing/2014/main" id="{C9E2D34D-73B5-1B06-071E-020B1FF2E081}"/>
              </a:ext>
            </a:extLst>
          </p:cNvPr>
          <p:cNvSpPr/>
          <p:nvPr/>
        </p:nvSpPr>
        <p:spPr>
          <a:xfrm>
            <a:off x="713232" y="644652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5E6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gestione eventi</a:t>
            </a:r>
            <a:endParaRPr lang="en-US" sz="6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gestione</a:t>
            </a: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429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13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Mappa della presentazione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2344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85800" y="1536192"/>
            <a:ext cx="5669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progetto viene letto come una catena unica: risorse → API → dati → verifica.</a:t>
            </a:r>
            <a:endParaRPr lang="en-US" sz="1500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2E028A2A-44FC-486D-4D4C-57699D0355EB}"/>
              </a:ext>
            </a:extLst>
          </p:cNvPr>
          <p:cNvSpPr/>
          <p:nvPr/>
        </p:nvSpPr>
        <p:spPr>
          <a:xfrm>
            <a:off x="1728216" y="3429000"/>
            <a:ext cx="1362456" cy="0"/>
          </a:xfrm>
          <a:prstGeom prst="line">
            <a:avLst/>
          </a:prstGeom>
          <a:noFill/>
          <a:ln w="27940">
            <a:solidFill>
              <a:srgbClr val="D6DD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AE3BF870-F7A7-B814-8E97-0EEF3A4D7A18}"/>
              </a:ext>
            </a:extLst>
          </p:cNvPr>
          <p:cNvSpPr/>
          <p:nvPr/>
        </p:nvSpPr>
        <p:spPr>
          <a:xfrm>
            <a:off x="4105656" y="3429000"/>
            <a:ext cx="1362456" cy="0"/>
          </a:xfrm>
          <a:prstGeom prst="line">
            <a:avLst/>
          </a:prstGeom>
          <a:noFill/>
          <a:ln w="27940">
            <a:solidFill>
              <a:srgbClr val="D6DD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53" name="Shape 11">
            <a:extLst>
              <a:ext uri="{FF2B5EF4-FFF2-40B4-BE49-F238E27FC236}">
                <a16:creationId xmlns:a16="http://schemas.microsoft.com/office/drawing/2014/main" id="{F3E93201-3407-B9C9-5A73-DC15B930EBBE}"/>
              </a:ext>
            </a:extLst>
          </p:cNvPr>
          <p:cNvSpPr/>
          <p:nvPr/>
        </p:nvSpPr>
        <p:spPr>
          <a:xfrm>
            <a:off x="6483096" y="3429000"/>
            <a:ext cx="1362456" cy="0"/>
          </a:xfrm>
          <a:prstGeom prst="line">
            <a:avLst/>
          </a:prstGeom>
          <a:noFill/>
          <a:ln w="27940">
            <a:solidFill>
              <a:srgbClr val="D6DD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3674B943-6A92-24A0-89A4-022861040EF9}"/>
              </a:ext>
            </a:extLst>
          </p:cNvPr>
          <p:cNvSpPr/>
          <p:nvPr/>
        </p:nvSpPr>
        <p:spPr>
          <a:xfrm>
            <a:off x="8860536" y="3429000"/>
            <a:ext cx="1362456" cy="0"/>
          </a:xfrm>
          <a:prstGeom prst="line">
            <a:avLst/>
          </a:prstGeom>
          <a:noFill/>
          <a:ln w="27940">
            <a:solidFill>
              <a:srgbClr val="D6DD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0D685048-CAFC-E17C-E424-80F2AC2AC3DB}"/>
              </a:ext>
            </a:extLst>
          </p:cNvPr>
          <p:cNvSpPr/>
          <p:nvPr/>
        </p:nvSpPr>
        <p:spPr>
          <a:xfrm>
            <a:off x="1234440" y="5210139"/>
            <a:ext cx="950976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Shape 14">
            <a:extLst>
              <a:ext uri="{FF2B5EF4-FFF2-40B4-BE49-F238E27FC236}">
                <a16:creationId xmlns:a16="http://schemas.microsoft.com/office/drawing/2014/main" id="{3306ED60-58E4-B68C-5AE0-3FFE5022155C}"/>
              </a:ext>
            </a:extLst>
          </p:cNvPr>
          <p:cNvSpPr/>
          <p:nvPr/>
        </p:nvSpPr>
        <p:spPr>
          <a:xfrm>
            <a:off x="694944" y="2889504"/>
            <a:ext cx="1078992" cy="1078992"/>
          </a:xfrm>
          <a:prstGeom prst="ellipse">
            <a:avLst/>
          </a:prstGeom>
          <a:solidFill>
            <a:srgbClr val="E9FBF8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E5E36175-1180-8399-8F6A-B7A639BF99D6}"/>
              </a:ext>
            </a:extLst>
          </p:cNvPr>
          <p:cNvSpPr/>
          <p:nvPr/>
        </p:nvSpPr>
        <p:spPr>
          <a:xfrm>
            <a:off x="841248" y="3035808"/>
            <a:ext cx="786384" cy="7863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A14B9E31-836F-273E-7CB9-57E9E6182E60}"/>
              </a:ext>
            </a:extLst>
          </p:cNvPr>
          <p:cNvSpPr/>
          <p:nvPr/>
        </p:nvSpPr>
        <p:spPr>
          <a:xfrm>
            <a:off x="594360" y="410565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endParaRPr lang="en-US" sz="1550" dirty="0"/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CAB8EF45-0301-30C3-697C-F0C2F79D226C}"/>
              </a:ext>
            </a:extLst>
          </p:cNvPr>
          <p:cNvSpPr/>
          <p:nvPr/>
        </p:nvSpPr>
        <p:spPr>
          <a:xfrm>
            <a:off x="521208" y="4416552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F6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architettura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F6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client-server</a:t>
            </a:r>
            <a:endParaRPr lang="en-US" sz="1020" dirty="0"/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278FD385-EE2B-9035-92A1-41998D74D9D7}"/>
              </a:ext>
            </a:extLst>
          </p:cNvPr>
          <p:cNvSpPr/>
          <p:nvPr/>
        </p:nvSpPr>
        <p:spPr>
          <a:xfrm>
            <a:off x="3072384" y="2889504"/>
            <a:ext cx="1078992" cy="107899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Shape 20">
            <a:extLst>
              <a:ext uri="{FF2B5EF4-FFF2-40B4-BE49-F238E27FC236}">
                <a16:creationId xmlns:a16="http://schemas.microsoft.com/office/drawing/2014/main" id="{263FAD74-7EE8-6621-7AF3-5A0CBB06CBEF}"/>
              </a:ext>
            </a:extLst>
          </p:cNvPr>
          <p:cNvSpPr/>
          <p:nvPr/>
        </p:nvSpPr>
        <p:spPr>
          <a:xfrm>
            <a:off x="3218688" y="3035808"/>
            <a:ext cx="786384" cy="7863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22">
            <a:extLst>
              <a:ext uri="{FF2B5EF4-FFF2-40B4-BE49-F238E27FC236}">
                <a16:creationId xmlns:a16="http://schemas.microsoft.com/office/drawing/2014/main" id="{61B0852D-E9A5-26A9-4873-3FAAB4CF90DC}"/>
              </a:ext>
            </a:extLst>
          </p:cNvPr>
          <p:cNvSpPr/>
          <p:nvPr/>
        </p:nvSpPr>
        <p:spPr>
          <a:xfrm>
            <a:off x="2971800" y="410565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</a:t>
            </a:r>
            <a:endParaRPr lang="en-US" sz="1550" dirty="0"/>
          </a:p>
        </p:txBody>
      </p:sp>
      <p:sp>
        <p:nvSpPr>
          <p:cNvPr id="77" name="Text 23">
            <a:extLst>
              <a:ext uri="{FF2B5EF4-FFF2-40B4-BE49-F238E27FC236}">
                <a16:creationId xmlns:a16="http://schemas.microsoft.com/office/drawing/2014/main" id="{27E8228C-5E00-BE14-C984-B655FF6520EA}"/>
              </a:ext>
            </a:extLst>
          </p:cNvPr>
          <p:cNvSpPr/>
          <p:nvPr/>
        </p:nvSpPr>
        <p:spPr>
          <a:xfrm>
            <a:off x="2898648" y="4416552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F6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Event, User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F6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Registration</a:t>
            </a:r>
            <a:endParaRPr lang="en-US" sz="1020" dirty="0"/>
          </a:p>
        </p:txBody>
      </p:sp>
      <p:sp>
        <p:nvSpPr>
          <p:cNvPr id="79" name="Shape 24">
            <a:extLst>
              <a:ext uri="{FF2B5EF4-FFF2-40B4-BE49-F238E27FC236}">
                <a16:creationId xmlns:a16="http://schemas.microsoft.com/office/drawing/2014/main" id="{4E7F3C3B-9A10-CD32-8F68-D73CA1F069C5}"/>
              </a:ext>
            </a:extLst>
          </p:cNvPr>
          <p:cNvSpPr/>
          <p:nvPr/>
        </p:nvSpPr>
        <p:spPr>
          <a:xfrm>
            <a:off x="5449824" y="2889504"/>
            <a:ext cx="1078992" cy="1078992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Shape 25">
            <a:extLst>
              <a:ext uri="{FF2B5EF4-FFF2-40B4-BE49-F238E27FC236}">
                <a16:creationId xmlns:a16="http://schemas.microsoft.com/office/drawing/2014/main" id="{AC6FBA3A-B668-B57B-BB3F-BDA6043E2D82}"/>
              </a:ext>
            </a:extLst>
          </p:cNvPr>
          <p:cNvSpPr/>
          <p:nvPr/>
        </p:nvSpPr>
        <p:spPr>
          <a:xfrm>
            <a:off x="5596128" y="3035808"/>
            <a:ext cx="786384" cy="7863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5" name="Text 27">
            <a:extLst>
              <a:ext uri="{FF2B5EF4-FFF2-40B4-BE49-F238E27FC236}">
                <a16:creationId xmlns:a16="http://schemas.microsoft.com/office/drawing/2014/main" id="{08FC46BB-03D0-9432-0DFC-D09860B50386}"/>
              </a:ext>
            </a:extLst>
          </p:cNvPr>
          <p:cNvSpPr/>
          <p:nvPr/>
        </p:nvSpPr>
        <p:spPr>
          <a:xfrm>
            <a:off x="5349240" y="410565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550" dirty="0"/>
          </a:p>
        </p:txBody>
      </p:sp>
      <p:sp>
        <p:nvSpPr>
          <p:cNvPr id="87" name="Text 28">
            <a:extLst>
              <a:ext uri="{FF2B5EF4-FFF2-40B4-BE49-F238E27FC236}">
                <a16:creationId xmlns:a16="http://schemas.microsoft.com/office/drawing/2014/main" id="{A0AB2500-CC20-78DC-FCC3-4F9D4B5D187D}"/>
              </a:ext>
            </a:extLst>
          </p:cNvPr>
          <p:cNvSpPr/>
          <p:nvPr/>
        </p:nvSpPr>
        <p:spPr>
          <a:xfrm>
            <a:off x="5276088" y="4416552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F6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REST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F6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principali</a:t>
            </a:r>
            <a:endParaRPr lang="en-US" sz="1020" dirty="0"/>
          </a:p>
        </p:txBody>
      </p:sp>
      <p:sp>
        <p:nvSpPr>
          <p:cNvPr id="89" name="Shape 29">
            <a:extLst>
              <a:ext uri="{FF2B5EF4-FFF2-40B4-BE49-F238E27FC236}">
                <a16:creationId xmlns:a16="http://schemas.microsoft.com/office/drawing/2014/main" id="{A3B78437-372E-BFA0-ED73-0BCFD224F848}"/>
              </a:ext>
            </a:extLst>
          </p:cNvPr>
          <p:cNvSpPr/>
          <p:nvPr/>
        </p:nvSpPr>
        <p:spPr>
          <a:xfrm>
            <a:off x="7827264" y="2889504"/>
            <a:ext cx="1078992" cy="107899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1" name="Shape 30">
            <a:extLst>
              <a:ext uri="{FF2B5EF4-FFF2-40B4-BE49-F238E27FC236}">
                <a16:creationId xmlns:a16="http://schemas.microsoft.com/office/drawing/2014/main" id="{3B11F985-78E3-1B71-5A7C-A547528CE295}"/>
              </a:ext>
            </a:extLst>
          </p:cNvPr>
          <p:cNvSpPr/>
          <p:nvPr/>
        </p:nvSpPr>
        <p:spPr>
          <a:xfrm>
            <a:off x="7973568" y="3035808"/>
            <a:ext cx="786384" cy="7863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5" name="Text 32">
            <a:extLst>
              <a:ext uri="{FF2B5EF4-FFF2-40B4-BE49-F238E27FC236}">
                <a16:creationId xmlns:a16="http://schemas.microsoft.com/office/drawing/2014/main" id="{4C881F2A-E06F-3C5E-024C-5EAF39DCE8DA}"/>
              </a:ext>
            </a:extLst>
          </p:cNvPr>
          <p:cNvSpPr/>
          <p:nvPr/>
        </p:nvSpPr>
        <p:spPr>
          <a:xfrm>
            <a:off x="7726680" y="410565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Errori</a:t>
            </a:r>
            <a:endParaRPr lang="en-US" sz="1550" dirty="0"/>
          </a:p>
        </p:txBody>
      </p:sp>
      <p:sp>
        <p:nvSpPr>
          <p:cNvPr id="97" name="Text 33">
            <a:extLst>
              <a:ext uri="{FF2B5EF4-FFF2-40B4-BE49-F238E27FC236}">
                <a16:creationId xmlns:a16="http://schemas.microsoft.com/office/drawing/2014/main" id="{4BEE8934-44CA-AAFA-6794-42B67E00210C}"/>
              </a:ext>
            </a:extLst>
          </p:cNvPr>
          <p:cNvSpPr/>
          <p:nvPr/>
        </p:nvSpPr>
        <p:spPr>
          <a:xfrm>
            <a:off x="7653528" y="4416552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F6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validazione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F6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lato server</a:t>
            </a:r>
            <a:endParaRPr lang="en-US" sz="1020" dirty="0"/>
          </a:p>
        </p:txBody>
      </p:sp>
      <p:sp>
        <p:nvSpPr>
          <p:cNvPr id="99" name="Shape 34">
            <a:extLst>
              <a:ext uri="{FF2B5EF4-FFF2-40B4-BE49-F238E27FC236}">
                <a16:creationId xmlns:a16="http://schemas.microsoft.com/office/drawing/2014/main" id="{8EF6D48E-D6B8-7850-DD48-437BDB69AB63}"/>
              </a:ext>
            </a:extLst>
          </p:cNvPr>
          <p:cNvSpPr/>
          <p:nvPr/>
        </p:nvSpPr>
        <p:spPr>
          <a:xfrm>
            <a:off x="10204704" y="2889504"/>
            <a:ext cx="1078992" cy="107899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1" name="Shape 35">
            <a:extLst>
              <a:ext uri="{FF2B5EF4-FFF2-40B4-BE49-F238E27FC236}">
                <a16:creationId xmlns:a16="http://schemas.microsoft.com/office/drawing/2014/main" id="{19728E16-CE4F-6A30-75B1-FCCD37C173DF}"/>
              </a:ext>
            </a:extLst>
          </p:cNvPr>
          <p:cNvSpPr/>
          <p:nvPr/>
        </p:nvSpPr>
        <p:spPr>
          <a:xfrm>
            <a:off x="10351008" y="3035808"/>
            <a:ext cx="786384" cy="7863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5" name="Text 37">
            <a:extLst>
              <a:ext uri="{FF2B5EF4-FFF2-40B4-BE49-F238E27FC236}">
                <a16:creationId xmlns:a16="http://schemas.microsoft.com/office/drawing/2014/main" id="{609ED11C-2B92-F8AC-50D5-77E4ECB74672}"/>
              </a:ext>
            </a:extLst>
          </p:cNvPr>
          <p:cNvSpPr/>
          <p:nvPr/>
        </p:nvSpPr>
        <p:spPr>
          <a:xfrm>
            <a:off x="10104120" y="410565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550" dirty="0"/>
          </a:p>
        </p:txBody>
      </p:sp>
      <p:sp>
        <p:nvSpPr>
          <p:cNvPr id="107" name="Text 38">
            <a:extLst>
              <a:ext uri="{FF2B5EF4-FFF2-40B4-BE49-F238E27FC236}">
                <a16:creationId xmlns:a16="http://schemas.microsoft.com/office/drawing/2014/main" id="{717884F3-AFBA-61FE-39B2-7FC7262A66DD}"/>
              </a:ext>
            </a:extLst>
          </p:cNvPr>
          <p:cNvSpPr/>
          <p:nvPr/>
        </p:nvSpPr>
        <p:spPr>
          <a:xfrm>
            <a:off x="10030968" y="4416552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F6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F6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CI/CD</a:t>
            </a:r>
            <a:endParaRPr lang="en-US" sz="1020" dirty="0"/>
          </a:p>
        </p:txBody>
      </p:sp>
      <p:sp>
        <p:nvSpPr>
          <p:cNvPr id="109" name="Shape 13">
            <a:extLst>
              <a:ext uri="{FF2B5EF4-FFF2-40B4-BE49-F238E27FC236}">
                <a16:creationId xmlns:a16="http://schemas.microsoft.com/office/drawing/2014/main" id="{47AC881B-BE4D-B025-1A23-46F3E1E2C49B}"/>
              </a:ext>
            </a:extLst>
          </p:cNvPr>
          <p:cNvSpPr/>
          <p:nvPr/>
        </p:nvSpPr>
        <p:spPr>
          <a:xfrm>
            <a:off x="1234440" y="2553204"/>
            <a:ext cx="950976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1" name="Immagine 110">
            <a:extLst>
              <a:ext uri="{FF2B5EF4-FFF2-40B4-BE49-F238E27FC236}">
                <a16:creationId xmlns:a16="http://schemas.microsoft.com/office/drawing/2014/main" id="{F85C2389-8BCA-F555-F7E7-F832808313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38" t="17663" r="68579" b="58218"/>
          <a:stretch>
            <a:fillRect/>
          </a:stretch>
        </p:blipFill>
        <p:spPr>
          <a:xfrm>
            <a:off x="946404" y="3220716"/>
            <a:ext cx="600456" cy="449406"/>
          </a:xfrm>
          <a:prstGeom prst="rect">
            <a:avLst/>
          </a:prstGeom>
        </p:spPr>
      </p:pic>
      <p:pic>
        <p:nvPicPr>
          <p:cNvPr id="113" name="Immagine 112">
            <a:extLst>
              <a:ext uri="{FF2B5EF4-FFF2-40B4-BE49-F238E27FC236}">
                <a16:creationId xmlns:a16="http://schemas.microsoft.com/office/drawing/2014/main" id="{A3ADA603-DD42-DDFF-C8B9-B5CB7666F5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76" t="14343" r="32983" b="58250"/>
          <a:stretch>
            <a:fillRect/>
          </a:stretch>
        </p:blipFill>
        <p:spPr>
          <a:xfrm>
            <a:off x="3244638" y="3146095"/>
            <a:ext cx="760434" cy="473551"/>
          </a:xfrm>
          <a:prstGeom prst="rect">
            <a:avLst/>
          </a:prstGeom>
        </p:spPr>
      </p:pic>
      <p:pic>
        <p:nvPicPr>
          <p:cNvPr id="115" name="Immagine 114">
            <a:extLst>
              <a:ext uri="{FF2B5EF4-FFF2-40B4-BE49-F238E27FC236}">
                <a16:creationId xmlns:a16="http://schemas.microsoft.com/office/drawing/2014/main" id="{326EC914-FB9F-BFA3-8D5D-10C9796004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432" t="18738" r="10634" b="60734"/>
          <a:stretch>
            <a:fillRect/>
          </a:stretch>
        </p:blipFill>
        <p:spPr>
          <a:xfrm>
            <a:off x="5691026" y="3193284"/>
            <a:ext cx="607295" cy="490780"/>
          </a:xfrm>
          <a:prstGeom prst="rect">
            <a:avLst/>
          </a:prstGeom>
        </p:spPr>
      </p:pic>
      <p:pic>
        <p:nvPicPr>
          <p:cNvPr id="117" name="Immagine 116">
            <a:extLst>
              <a:ext uri="{FF2B5EF4-FFF2-40B4-BE49-F238E27FC236}">
                <a16:creationId xmlns:a16="http://schemas.microsoft.com/office/drawing/2014/main" id="{885FDE8B-7795-FB7C-0A49-78269C6D3F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77" t="55169" r="59534" b="25205"/>
          <a:stretch>
            <a:fillRect/>
          </a:stretch>
        </p:blipFill>
        <p:spPr>
          <a:xfrm>
            <a:off x="8001381" y="3188633"/>
            <a:ext cx="730758" cy="480734"/>
          </a:xfrm>
          <a:prstGeom prst="rect">
            <a:avLst/>
          </a:prstGeom>
        </p:spPr>
      </p:pic>
      <p:pic>
        <p:nvPicPr>
          <p:cNvPr id="119" name="Immagine 118">
            <a:extLst>
              <a:ext uri="{FF2B5EF4-FFF2-40B4-BE49-F238E27FC236}">
                <a16:creationId xmlns:a16="http://schemas.microsoft.com/office/drawing/2014/main" id="{FFC9F8F0-DC32-F789-B0B7-265F54EC4D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710" t="56121" r="23585" b="24395"/>
          <a:stretch>
            <a:fillRect/>
          </a:stretch>
        </p:blipFill>
        <p:spPr>
          <a:xfrm>
            <a:off x="10427424" y="3245258"/>
            <a:ext cx="709968" cy="4248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gestione</a:t>
            </a: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429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STRUTTURA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13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Architettura del sistema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2344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2697480" y="2361491"/>
            <a:ext cx="1143000" cy="0"/>
          </a:xfrm>
          <a:prstGeom prst="line">
            <a:avLst/>
          </a:prstGeom>
          <a:noFill/>
          <a:ln w="19050">
            <a:solidFill>
              <a:srgbClr val="13B8A6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5577840" y="2361491"/>
            <a:ext cx="1143000" cy="0"/>
          </a:xfrm>
          <a:prstGeom prst="line">
            <a:avLst/>
          </a:prstGeom>
          <a:noFill/>
          <a:ln w="19050">
            <a:solidFill>
              <a:srgbClr val="13B8A6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8458200" y="2361491"/>
            <a:ext cx="1143000" cy="0"/>
          </a:xfrm>
          <a:prstGeom prst="line">
            <a:avLst/>
          </a:prstGeom>
          <a:noFill/>
          <a:ln w="19050">
            <a:solidFill>
              <a:srgbClr val="13B8A6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777240" y="1639115"/>
            <a:ext cx="1920240" cy="1417320"/>
          </a:xfrm>
          <a:prstGeom prst="roundRect">
            <a:avLst>
              <a:gd name="adj" fmla="val 8387"/>
            </a:avLst>
          </a:prstGeom>
          <a:solidFill>
            <a:srgbClr val="E6F0FF"/>
          </a:solidFill>
          <a:ln w="12700">
            <a:solidFill>
              <a:srgbClr val="3B82F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23544" y="1748843"/>
            <a:ext cx="365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99032" y="1785419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41832" y="2142035"/>
            <a:ext cx="159105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pagine HTML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interazione con utente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0" y="1639115"/>
            <a:ext cx="1920240" cy="1417320"/>
          </a:xfrm>
          <a:prstGeom prst="roundRect">
            <a:avLst>
              <a:gd name="adj" fmla="val 8387"/>
            </a:avLst>
          </a:prstGeom>
          <a:solidFill>
            <a:srgbClr val="DDF7F3"/>
          </a:solidFill>
          <a:ln w="12700">
            <a:solidFill>
              <a:srgbClr val="13B8A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803904" y="1748843"/>
            <a:ext cx="365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79392" y="1785419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822192" y="2142035"/>
            <a:ext cx="159105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+ validazione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37960" y="1639115"/>
            <a:ext cx="1920240" cy="1417320"/>
          </a:xfrm>
          <a:prstGeom prst="roundRect">
            <a:avLst>
              <a:gd name="adj" fmla="val 8387"/>
            </a:avLst>
          </a:prstGeom>
          <a:solidFill>
            <a:srgbClr val="FFEEE4"/>
          </a:solidFill>
          <a:ln w="12700">
            <a:solidFill>
              <a:srgbClr val="F9731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684264" y="1748843"/>
            <a:ext cx="365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59752" y="1785419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702552" y="2142035"/>
            <a:ext cx="159105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SQLModel</a:t>
            </a: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</a:t>
            </a:r>
            <a:r>
              <a:rPr lang="en-US" sz="1050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persistenza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18320" y="1639115"/>
            <a:ext cx="1920240" cy="1417320"/>
          </a:xfrm>
          <a:prstGeom prst="roundRect">
            <a:avLst>
              <a:gd name="adj" fmla="val 8387"/>
            </a:avLst>
          </a:prstGeom>
          <a:solidFill>
            <a:srgbClr val="E9F9EF"/>
          </a:solidFill>
          <a:ln w="12700">
            <a:solidFill>
              <a:srgbClr val="22C55E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9564624" y="1748843"/>
            <a:ext cx="365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40112" y="1785419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582912" y="2142035"/>
            <a:ext cx="159105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automatici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88920" y="2096315"/>
            <a:ext cx="8046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/ JSON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5650992" y="2096315"/>
            <a:ext cx="8046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SQLModel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8705088" y="2096315"/>
            <a:ext cx="4389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920" dirty="0"/>
          </a:p>
        </p:txBody>
      </p:sp>
      <p:pic>
        <p:nvPicPr>
          <p:cNvPr id="39" name="Immagine 38">
            <a:extLst>
              <a:ext uri="{FF2B5EF4-FFF2-40B4-BE49-F238E27FC236}">
                <a16:creationId xmlns:a16="http://schemas.microsoft.com/office/drawing/2014/main" id="{FAD07B19-ABA7-45CE-9DF1-3DF082DB2C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833" r="-70" b="21033"/>
          <a:stretch>
            <a:fillRect/>
          </a:stretch>
        </p:blipFill>
        <p:spPr>
          <a:xfrm>
            <a:off x="1510395" y="3645226"/>
            <a:ext cx="9171209" cy="2206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gestione</a:t>
            </a: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429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13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e modelli dati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2344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Box 13"/>
          <p:cNvSpPr txBox="1"/>
          <p:nvPr/>
        </p:nvSpPr>
        <p:spPr>
          <a:xfrm>
            <a:off x="517144" y="1411835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606B82"/>
                </a:solidFill>
              </a:rPr>
              <a:t>I </a:t>
            </a:r>
            <a:r>
              <a:rPr sz="1400" dirty="0" err="1">
                <a:solidFill>
                  <a:srgbClr val="606B82"/>
                </a:solidFill>
              </a:rPr>
              <a:t>dati</a:t>
            </a:r>
            <a:r>
              <a:rPr sz="1400" dirty="0">
                <a:solidFill>
                  <a:srgbClr val="606B82"/>
                </a:solidFill>
              </a:rPr>
              <a:t> del </a:t>
            </a:r>
            <a:r>
              <a:rPr sz="1400" dirty="0" err="1">
                <a:solidFill>
                  <a:srgbClr val="606B82"/>
                </a:solidFill>
              </a:rPr>
              <a:t>sistema</a:t>
            </a:r>
            <a:r>
              <a:rPr sz="1400" dirty="0">
                <a:solidFill>
                  <a:srgbClr val="606B82"/>
                </a:solidFill>
              </a:rPr>
              <a:t> </a:t>
            </a:r>
            <a:r>
              <a:rPr sz="1400" dirty="0" err="1">
                <a:solidFill>
                  <a:srgbClr val="606B82"/>
                </a:solidFill>
              </a:rPr>
              <a:t>sono</a:t>
            </a:r>
            <a:r>
              <a:rPr sz="1400" dirty="0">
                <a:solidFill>
                  <a:srgbClr val="606B82"/>
                </a:solidFill>
              </a:rPr>
              <a:t> </a:t>
            </a:r>
            <a:r>
              <a:rPr sz="1400" dirty="0" err="1">
                <a:solidFill>
                  <a:srgbClr val="606B82"/>
                </a:solidFill>
              </a:rPr>
              <a:t>organizzati</a:t>
            </a:r>
            <a:r>
              <a:rPr sz="1400" dirty="0">
                <a:solidFill>
                  <a:srgbClr val="606B82"/>
                </a:solidFill>
              </a:rPr>
              <a:t> in </a:t>
            </a:r>
            <a:r>
              <a:rPr sz="1400" dirty="0" err="1">
                <a:solidFill>
                  <a:srgbClr val="606B82"/>
                </a:solidFill>
              </a:rPr>
              <a:t>tre</a:t>
            </a:r>
            <a:r>
              <a:rPr sz="1400" dirty="0">
                <a:solidFill>
                  <a:srgbClr val="606B82"/>
                </a:solidFill>
              </a:rPr>
              <a:t> </a:t>
            </a:r>
            <a:r>
              <a:rPr sz="1400" dirty="0" err="1">
                <a:solidFill>
                  <a:srgbClr val="606B82"/>
                </a:solidFill>
              </a:rPr>
              <a:t>entità</a:t>
            </a:r>
            <a:r>
              <a:rPr sz="1400" dirty="0">
                <a:solidFill>
                  <a:srgbClr val="606B82"/>
                </a:solidFill>
              </a:rPr>
              <a:t> </a:t>
            </a:r>
            <a:r>
              <a:rPr sz="1400" dirty="0" err="1">
                <a:solidFill>
                  <a:srgbClr val="606B82"/>
                </a:solidFill>
              </a:rPr>
              <a:t>principali</a:t>
            </a:r>
            <a:r>
              <a:rPr sz="1400" dirty="0">
                <a:solidFill>
                  <a:srgbClr val="606B82"/>
                </a:solidFill>
              </a:rPr>
              <a:t> </a:t>
            </a:r>
            <a:r>
              <a:rPr sz="1400" dirty="0" err="1">
                <a:solidFill>
                  <a:srgbClr val="606B82"/>
                </a:solidFill>
              </a:rPr>
              <a:t>collegate</a:t>
            </a:r>
            <a:r>
              <a:rPr sz="1400" dirty="0">
                <a:solidFill>
                  <a:srgbClr val="606B82"/>
                </a:solidFill>
              </a:rPr>
              <a:t> </a:t>
            </a:r>
            <a:r>
              <a:rPr sz="1400" dirty="0" err="1">
                <a:solidFill>
                  <a:srgbClr val="606B82"/>
                </a:solidFill>
              </a:rPr>
              <a:t>tra</a:t>
            </a:r>
            <a:r>
              <a:rPr sz="1400" dirty="0">
                <a:solidFill>
                  <a:srgbClr val="606B82"/>
                </a:solidFill>
              </a:rPr>
              <a:t> loro.</a:t>
            </a:r>
          </a:p>
        </p:txBody>
      </p:sp>
      <p:sp>
        <p:nvSpPr>
          <p:cNvPr id="56" name="Rounded Rectangle 14"/>
          <p:cNvSpPr/>
          <p:nvPr/>
        </p:nvSpPr>
        <p:spPr>
          <a:xfrm>
            <a:off x="672272" y="2013392"/>
            <a:ext cx="3246120" cy="277063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5"/>
          <p:cNvSpPr/>
          <p:nvPr/>
        </p:nvSpPr>
        <p:spPr>
          <a:xfrm>
            <a:off x="652271" y="1927557"/>
            <a:ext cx="3533005" cy="3065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0A9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16"/>
          <p:cNvSpPr/>
          <p:nvPr/>
        </p:nvSpPr>
        <p:spPr>
          <a:xfrm>
            <a:off x="816864" y="2048256"/>
            <a:ext cx="621792" cy="621792"/>
          </a:xfrm>
          <a:prstGeom prst="ellipse">
            <a:avLst/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17"/>
          <p:cNvSpPr txBox="1"/>
          <p:nvPr/>
        </p:nvSpPr>
        <p:spPr>
          <a:xfrm>
            <a:off x="796864" y="2133294"/>
            <a:ext cx="621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0A9991"/>
                </a:solidFill>
              </a:rPr>
              <a:t>▣</a:t>
            </a:r>
          </a:p>
        </p:txBody>
      </p:sp>
      <p:sp>
        <p:nvSpPr>
          <p:cNvPr id="60" name="TextBox 18"/>
          <p:cNvSpPr txBox="1"/>
          <p:nvPr/>
        </p:nvSpPr>
        <p:spPr>
          <a:xfrm>
            <a:off x="1498092" y="2167128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dirty="0">
                <a:solidFill>
                  <a:srgbClr val="0A9991"/>
                </a:solidFill>
              </a:rPr>
              <a:t>Event</a:t>
            </a:r>
          </a:p>
        </p:txBody>
      </p:sp>
      <p:sp>
        <p:nvSpPr>
          <p:cNvPr id="61" name="Rectangle 19"/>
          <p:cNvSpPr/>
          <p:nvPr/>
        </p:nvSpPr>
        <p:spPr>
          <a:xfrm>
            <a:off x="789432" y="2788920"/>
            <a:ext cx="2971800" cy="1097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20"/>
          <p:cNvSpPr/>
          <p:nvPr/>
        </p:nvSpPr>
        <p:spPr>
          <a:xfrm>
            <a:off x="835152" y="2953512"/>
            <a:ext cx="377952" cy="256032"/>
          </a:xfrm>
          <a:prstGeom prst="roundRect">
            <a:avLst>
              <a:gd name="adj" fmla="val 30000"/>
            </a:avLst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21"/>
          <p:cNvSpPr txBox="1"/>
          <p:nvPr/>
        </p:nvSpPr>
        <p:spPr>
          <a:xfrm>
            <a:off x="844295" y="294802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9991"/>
                </a:solidFill>
              </a:rPr>
              <a:t>id</a:t>
            </a:r>
          </a:p>
        </p:txBody>
      </p:sp>
      <p:sp>
        <p:nvSpPr>
          <p:cNvPr id="64" name="TextBox 22"/>
          <p:cNvSpPr txBox="1"/>
          <p:nvPr/>
        </p:nvSpPr>
        <p:spPr>
          <a:xfrm>
            <a:off x="1911415" y="294802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0A9991"/>
                </a:solidFill>
              </a:rPr>
              <a:t>int</a:t>
            </a:r>
          </a:p>
        </p:txBody>
      </p:sp>
      <p:sp>
        <p:nvSpPr>
          <p:cNvPr id="65" name="TextBox 23"/>
          <p:cNvSpPr txBox="1"/>
          <p:nvPr/>
        </p:nvSpPr>
        <p:spPr>
          <a:xfrm>
            <a:off x="2642935" y="2948026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B82"/>
                </a:solidFill>
              </a:rPr>
              <a:t>assegnato dal server</a:t>
            </a:r>
          </a:p>
        </p:txBody>
      </p:sp>
      <p:sp>
        <p:nvSpPr>
          <p:cNvPr id="66" name="Rounded Rectangle 24"/>
          <p:cNvSpPr/>
          <p:nvPr/>
        </p:nvSpPr>
        <p:spPr>
          <a:xfrm>
            <a:off x="835152" y="3374136"/>
            <a:ext cx="499872" cy="256032"/>
          </a:xfrm>
          <a:prstGeom prst="roundRect">
            <a:avLst>
              <a:gd name="adj" fmla="val 30000"/>
            </a:avLst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25"/>
          <p:cNvSpPr txBox="1"/>
          <p:nvPr/>
        </p:nvSpPr>
        <p:spPr>
          <a:xfrm>
            <a:off x="844295" y="336865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9991"/>
                </a:solidFill>
              </a:rPr>
              <a:t>title</a:t>
            </a:r>
          </a:p>
        </p:txBody>
      </p:sp>
      <p:sp>
        <p:nvSpPr>
          <p:cNvPr id="68" name="TextBox 26"/>
          <p:cNvSpPr txBox="1"/>
          <p:nvPr/>
        </p:nvSpPr>
        <p:spPr>
          <a:xfrm>
            <a:off x="1911415" y="336865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9991"/>
                </a:solidFill>
              </a:rPr>
              <a:t>str</a:t>
            </a:r>
          </a:p>
        </p:txBody>
      </p:sp>
      <p:sp>
        <p:nvSpPr>
          <p:cNvPr id="69" name="TextBox 27"/>
          <p:cNvSpPr txBox="1"/>
          <p:nvPr/>
        </p:nvSpPr>
        <p:spPr>
          <a:xfrm>
            <a:off x="2642935" y="336865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B82"/>
                </a:solidFill>
              </a:rPr>
              <a:t>obbligatorio</a:t>
            </a:r>
          </a:p>
        </p:txBody>
      </p:sp>
      <p:sp>
        <p:nvSpPr>
          <p:cNvPr id="70" name="Rounded Rectangle 28"/>
          <p:cNvSpPr/>
          <p:nvPr/>
        </p:nvSpPr>
        <p:spPr>
          <a:xfrm>
            <a:off x="835152" y="3794760"/>
            <a:ext cx="941832" cy="256032"/>
          </a:xfrm>
          <a:prstGeom prst="roundRect">
            <a:avLst>
              <a:gd name="adj" fmla="val 30000"/>
            </a:avLst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29"/>
          <p:cNvSpPr txBox="1"/>
          <p:nvPr/>
        </p:nvSpPr>
        <p:spPr>
          <a:xfrm>
            <a:off x="844295" y="378927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9991"/>
                </a:solidFill>
              </a:rPr>
              <a:t>description</a:t>
            </a:r>
          </a:p>
        </p:txBody>
      </p:sp>
      <p:sp>
        <p:nvSpPr>
          <p:cNvPr id="72" name="TextBox 30"/>
          <p:cNvSpPr txBox="1"/>
          <p:nvPr/>
        </p:nvSpPr>
        <p:spPr>
          <a:xfrm>
            <a:off x="1911415" y="378927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9991"/>
                </a:solidFill>
              </a:rPr>
              <a:t>str</a:t>
            </a:r>
          </a:p>
        </p:txBody>
      </p:sp>
      <p:sp>
        <p:nvSpPr>
          <p:cNvPr id="73" name="TextBox 31"/>
          <p:cNvSpPr txBox="1"/>
          <p:nvPr/>
        </p:nvSpPr>
        <p:spPr>
          <a:xfrm>
            <a:off x="2642935" y="378927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B82"/>
                </a:solidFill>
              </a:rPr>
              <a:t>obbligatorio</a:t>
            </a:r>
          </a:p>
        </p:txBody>
      </p:sp>
      <p:sp>
        <p:nvSpPr>
          <p:cNvPr id="74" name="Rounded Rectangle 32"/>
          <p:cNvSpPr/>
          <p:nvPr/>
        </p:nvSpPr>
        <p:spPr>
          <a:xfrm>
            <a:off x="835152" y="4215384"/>
            <a:ext cx="499872" cy="256032"/>
          </a:xfrm>
          <a:prstGeom prst="roundRect">
            <a:avLst>
              <a:gd name="adj" fmla="val 30000"/>
            </a:avLst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33"/>
          <p:cNvSpPr txBox="1"/>
          <p:nvPr/>
        </p:nvSpPr>
        <p:spPr>
          <a:xfrm>
            <a:off x="844295" y="420989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9991"/>
                </a:solidFill>
              </a:rPr>
              <a:t>date</a:t>
            </a:r>
          </a:p>
        </p:txBody>
      </p:sp>
      <p:sp>
        <p:nvSpPr>
          <p:cNvPr id="76" name="TextBox 34"/>
          <p:cNvSpPr txBox="1"/>
          <p:nvPr/>
        </p:nvSpPr>
        <p:spPr>
          <a:xfrm>
            <a:off x="1911415" y="420989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9991"/>
                </a:solidFill>
              </a:rPr>
              <a:t>datetime</a:t>
            </a:r>
          </a:p>
        </p:txBody>
      </p:sp>
      <p:sp>
        <p:nvSpPr>
          <p:cNvPr id="77" name="TextBox 35"/>
          <p:cNvSpPr txBox="1"/>
          <p:nvPr/>
        </p:nvSpPr>
        <p:spPr>
          <a:xfrm>
            <a:off x="2642935" y="420989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B82"/>
                </a:solidFill>
              </a:rPr>
              <a:t>formato ISO 8601</a:t>
            </a:r>
          </a:p>
        </p:txBody>
      </p:sp>
      <p:sp>
        <p:nvSpPr>
          <p:cNvPr id="78" name="Rounded Rectangle 36"/>
          <p:cNvSpPr/>
          <p:nvPr/>
        </p:nvSpPr>
        <p:spPr>
          <a:xfrm>
            <a:off x="835152" y="4636008"/>
            <a:ext cx="822960" cy="256032"/>
          </a:xfrm>
          <a:prstGeom prst="roundRect">
            <a:avLst>
              <a:gd name="adj" fmla="val 30000"/>
            </a:avLst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37"/>
          <p:cNvSpPr txBox="1"/>
          <p:nvPr/>
        </p:nvSpPr>
        <p:spPr>
          <a:xfrm>
            <a:off x="844295" y="463052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9991"/>
                </a:solidFill>
              </a:rPr>
              <a:t>location</a:t>
            </a:r>
          </a:p>
        </p:txBody>
      </p:sp>
      <p:sp>
        <p:nvSpPr>
          <p:cNvPr id="80" name="TextBox 38"/>
          <p:cNvSpPr txBox="1"/>
          <p:nvPr/>
        </p:nvSpPr>
        <p:spPr>
          <a:xfrm>
            <a:off x="1911415" y="463052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9991"/>
                </a:solidFill>
              </a:rPr>
              <a:t>str</a:t>
            </a:r>
          </a:p>
        </p:txBody>
      </p:sp>
      <p:sp>
        <p:nvSpPr>
          <p:cNvPr id="81" name="TextBox 39"/>
          <p:cNvSpPr txBox="1"/>
          <p:nvPr/>
        </p:nvSpPr>
        <p:spPr>
          <a:xfrm>
            <a:off x="2642935" y="463052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B82"/>
                </a:solidFill>
              </a:rPr>
              <a:t>obbligatorio</a:t>
            </a:r>
          </a:p>
        </p:txBody>
      </p:sp>
      <p:sp>
        <p:nvSpPr>
          <p:cNvPr id="82" name="Rounded Rectangle 40"/>
          <p:cNvSpPr/>
          <p:nvPr/>
        </p:nvSpPr>
        <p:spPr>
          <a:xfrm>
            <a:off x="4393880" y="2013392"/>
            <a:ext cx="3291840" cy="277063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41"/>
          <p:cNvSpPr/>
          <p:nvPr/>
        </p:nvSpPr>
        <p:spPr>
          <a:xfrm>
            <a:off x="4373879" y="1927557"/>
            <a:ext cx="3311841" cy="288584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3B7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42"/>
          <p:cNvSpPr/>
          <p:nvPr/>
        </p:nvSpPr>
        <p:spPr>
          <a:xfrm>
            <a:off x="4538472" y="2048256"/>
            <a:ext cx="621792" cy="621792"/>
          </a:xfrm>
          <a:prstGeom prst="ellipse">
            <a:avLst/>
          </a:prstGeom>
          <a:solidFill>
            <a:srgbClr val="E7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43"/>
          <p:cNvSpPr txBox="1"/>
          <p:nvPr/>
        </p:nvSpPr>
        <p:spPr>
          <a:xfrm>
            <a:off x="4526467" y="2139697"/>
            <a:ext cx="621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3B7BF6"/>
                </a:solidFill>
              </a:rPr>
              <a:t>👤</a:t>
            </a:r>
          </a:p>
        </p:txBody>
      </p:sp>
      <p:sp>
        <p:nvSpPr>
          <p:cNvPr id="86" name="TextBox 44"/>
          <p:cNvSpPr txBox="1"/>
          <p:nvPr/>
        </p:nvSpPr>
        <p:spPr>
          <a:xfrm>
            <a:off x="5217856" y="218998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dirty="0">
                <a:solidFill>
                  <a:srgbClr val="3B7BF6"/>
                </a:solidFill>
              </a:rPr>
              <a:t>User</a:t>
            </a:r>
          </a:p>
        </p:txBody>
      </p:sp>
      <p:sp>
        <p:nvSpPr>
          <p:cNvPr id="87" name="Rectangle 45"/>
          <p:cNvSpPr/>
          <p:nvPr/>
        </p:nvSpPr>
        <p:spPr>
          <a:xfrm>
            <a:off x="4511040" y="2788920"/>
            <a:ext cx="3017520" cy="1097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46"/>
          <p:cNvSpPr/>
          <p:nvPr/>
        </p:nvSpPr>
        <p:spPr>
          <a:xfrm>
            <a:off x="4556760" y="2953512"/>
            <a:ext cx="842956" cy="256032"/>
          </a:xfrm>
          <a:prstGeom prst="roundRect">
            <a:avLst>
              <a:gd name="adj" fmla="val 30000"/>
            </a:avLst>
          </a:prstGeom>
          <a:solidFill>
            <a:srgbClr val="E7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47"/>
          <p:cNvSpPr txBox="1"/>
          <p:nvPr/>
        </p:nvSpPr>
        <p:spPr>
          <a:xfrm>
            <a:off x="4538472" y="293197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3B7BF6"/>
                </a:solidFill>
              </a:rPr>
              <a:t>username</a:t>
            </a:r>
          </a:p>
        </p:txBody>
      </p:sp>
      <p:sp>
        <p:nvSpPr>
          <p:cNvPr id="90" name="TextBox 48"/>
          <p:cNvSpPr txBox="1"/>
          <p:nvPr/>
        </p:nvSpPr>
        <p:spPr>
          <a:xfrm>
            <a:off x="5608320" y="29350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B7BF6"/>
                </a:solidFill>
              </a:rPr>
              <a:t>str</a:t>
            </a:r>
          </a:p>
        </p:txBody>
      </p:sp>
      <p:sp>
        <p:nvSpPr>
          <p:cNvPr id="91" name="TextBox 49"/>
          <p:cNvSpPr txBox="1"/>
          <p:nvPr/>
        </p:nvSpPr>
        <p:spPr>
          <a:xfrm>
            <a:off x="6339840" y="2940609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B82"/>
                </a:solidFill>
              </a:rPr>
              <a:t>chiave primaria</a:t>
            </a:r>
          </a:p>
        </p:txBody>
      </p:sp>
      <p:sp>
        <p:nvSpPr>
          <p:cNvPr id="92" name="Rounded Rectangle 50"/>
          <p:cNvSpPr/>
          <p:nvPr/>
        </p:nvSpPr>
        <p:spPr>
          <a:xfrm>
            <a:off x="4556760" y="3374136"/>
            <a:ext cx="576072" cy="256032"/>
          </a:xfrm>
          <a:prstGeom prst="roundRect">
            <a:avLst>
              <a:gd name="adj" fmla="val 30000"/>
            </a:avLst>
          </a:prstGeom>
          <a:solidFill>
            <a:srgbClr val="E7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51"/>
          <p:cNvSpPr txBox="1"/>
          <p:nvPr/>
        </p:nvSpPr>
        <p:spPr>
          <a:xfrm>
            <a:off x="4538472" y="335259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B7BF6"/>
                </a:solidFill>
              </a:rPr>
              <a:t>name</a:t>
            </a:r>
          </a:p>
        </p:txBody>
      </p:sp>
      <p:sp>
        <p:nvSpPr>
          <p:cNvPr id="94" name="TextBox 52"/>
          <p:cNvSpPr txBox="1"/>
          <p:nvPr/>
        </p:nvSpPr>
        <p:spPr>
          <a:xfrm>
            <a:off x="5608320" y="33556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B7BF6"/>
                </a:solidFill>
              </a:rPr>
              <a:t>str</a:t>
            </a:r>
          </a:p>
        </p:txBody>
      </p:sp>
      <p:sp>
        <p:nvSpPr>
          <p:cNvPr id="95" name="TextBox 53"/>
          <p:cNvSpPr txBox="1"/>
          <p:nvPr/>
        </p:nvSpPr>
        <p:spPr>
          <a:xfrm>
            <a:off x="6339840" y="3361233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B82"/>
                </a:solidFill>
              </a:rPr>
              <a:t>obbligatorio</a:t>
            </a:r>
          </a:p>
        </p:txBody>
      </p:sp>
      <p:sp>
        <p:nvSpPr>
          <p:cNvPr id="96" name="Rounded Rectangle 54"/>
          <p:cNvSpPr/>
          <p:nvPr/>
        </p:nvSpPr>
        <p:spPr>
          <a:xfrm>
            <a:off x="4556760" y="3794760"/>
            <a:ext cx="576072" cy="256032"/>
          </a:xfrm>
          <a:prstGeom prst="roundRect">
            <a:avLst>
              <a:gd name="adj" fmla="val 30000"/>
            </a:avLst>
          </a:prstGeom>
          <a:solidFill>
            <a:srgbClr val="E7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55"/>
          <p:cNvSpPr txBox="1"/>
          <p:nvPr/>
        </p:nvSpPr>
        <p:spPr>
          <a:xfrm>
            <a:off x="4538472" y="37732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B7BF6"/>
                </a:solidFill>
              </a:rPr>
              <a:t>email</a:t>
            </a:r>
          </a:p>
        </p:txBody>
      </p:sp>
      <p:sp>
        <p:nvSpPr>
          <p:cNvPr id="98" name="TextBox 56"/>
          <p:cNvSpPr txBox="1"/>
          <p:nvPr/>
        </p:nvSpPr>
        <p:spPr>
          <a:xfrm>
            <a:off x="5608320" y="377626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3B7BF6"/>
                </a:solidFill>
              </a:rPr>
              <a:t>str</a:t>
            </a:r>
          </a:p>
        </p:txBody>
      </p:sp>
      <p:sp>
        <p:nvSpPr>
          <p:cNvPr id="99" name="TextBox 57"/>
          <p:cNvSpPr txBox="1"/>
          <p:nvPr/>
        </p:nvSpPr>
        <p:spPr>
          <a:xfrm>
            <a:off x="6339840" y="3781857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 err="1">
                <a:solidFill>
                  <a:srgbClr val="606B82"/>
                </a:solidFill>
              </a:rPr>
              <a:t>obbligatorio</a:t>
            </a:r>
            <a:endParaRPr sz="1200" dirty="0">
              <a:solidFill>
                <a:srgbClr val="606B82"/>
              </a:solidFill>
            </a:endParaRPr>
          </a:p>
        </p:txBody>
      </p:sp>
      <p:sp>
        <p:nvSpPr>
          <p:cNvPr id="100" name="Rounded Rectangle 58"/>
          <p:cNvSpPr/>
          <p:nvPr/>
        </p:nvSpPr>
        <p:spPr>
          <a:xfrm>
            <a:off x="7914320" y="2013392"/>
            <a:ext cx="3474720" cy="277063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59"/>
          <p:cNvSpPr/>
          <p:nvPr/>
        </p:nvSpPr>
        <p:spPr>
          <a:xfrm>
            <a:off x="7894319" y="1927557"/>
            <a:ext cx="3916677" cy="288584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F36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60"/>
          <p:cNvSpPr/>
          <p:nvPr/>
        </p:nvSpPr>
        <p:spPr>
          <a:xfrm>
            <a:off x="8058912" y="2048256"/>
            <a:ext cx="621792" cy="621792"/>
          </a:xfrm>
          <a:prstGeom prst="ellipse">
            <a:avLst/>
          </a:prstGeom>
          <a:solidFill>
            <a:srgbClr val="FB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61"/>
          <p:cNvSpPr txBox="1"/>
          <p:nvPr/>
        </p:nvSpPr>
        <p:spPr>
          <a:xfrm>
            <a:off x="8058912" y="2112773"/>
            <a:ext cx="621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36E16"/>
                </a:solidFill>
              </a:rPr>
              <a:t>⟡</a:t>
            </a:r>
          </a:p>
        </p:txBody>
      </p:sp>
      <p:sp>
        <p:nvSpPr>
          <p:cNvPr id="104" name="TextBox 62"/>
          <p:cNvSpPr txBox="1"/>
          <p:nvPr/>
        </p:nvSpPr>
        <p:spPr>
          <a:xfrm>
            <a:off x="8717280" y="216590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dirty="0">
                <a:solidFill>
                  <a:srgbClr val="F36E16"/>
                </a:solidFill>
              </a:rPr>
              <a:t>Registration</a:t>
            </a:r>
          </a:p>
        </p:txBody>
      </p:sp>
      <p:sp>
        <p:nvSpPr>
          <p:cNvPr id="105" name="Rectangle 63"/>
          <p:cNvSpPr/>
          <p:nvPr/>
        </p:nvSpPr>
        <p:spPr>
          <a:xfrm>
            <a:off x="8031480" y="2788920"/>
            <a:ext cx="3200400" cy="1097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64"/>
          <p:cNvSpPr/>
          <p:nvPr/>
        </p:nvSpPr>
        <p:spPr>
          <a:xfrm>
            <a:off x="8077200" y="2953512"/>
            <a:ext cx="822960" cy="256032"/>
          </a:xfrm>
          <a:prstGeom prst="roundRect">
            <a:avLst>
              <a:gd name="adj" fmla="val 30000"/>
            </a:avLst>
          </a:prstGeom>
          <a:solidFill>
            <a:srgbClr val="FB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65"/>
          <p:cNvSpPr txBox="1"/>
          <p:nvPr/>
        </p:nvSpPr>
        <p:spPr>
          <a:xfrm>
            <a:off x="8067040" y="293973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36E16"/>
                </a:solidFill>
              </a:rPr>
              <a:t>username</a:t>
            </a:r>
          </a:p>
        </p:txBody>
      </p:sp>
      <p:sp>
        <p:nvSpPr>
          <p:cNvPr id="108" name="TextBox 66"/>
          <p:cNvSpPr txBox="1"/>
          <p:nvPr/>
        </p:nvSpPr>
        <p:spPr>
          <a:xfrm>
            <a:off x="9128760" y="2946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F36E16"/>
                </a:solidFill>
              </a:rPr>
              <a:t>str</a:t>
            </a:r>
          </a:p>
        </p:txBody>
      </p:sp>
      <p:sp>
        <p:nvSpPr>
          <p:cNvPr id="109" name="TextBox 67"/>
          <p:cNvSpPr txBox="1"/>
          <p:nvPr/>
        </p:nvSpPr>
        <p:spPr>
          <a:xfrm>
            <a:off x="9860280" y="2951930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 err="1">
                <a:solidFill>
                  <a:srgbClr val="606B82"/>
                </a:solidFill>
              </a:rPr>
              <a:t>chiave</a:t>
            </a:r>
            <a:r>
              <a:rPr sz="1200" dirty="0">
                <a:solidFill>
                  <a:srgbClr val="606B82"/>
                </a:solidFill>
              </a:rPr>
              <a:t> </a:t>
            </a:r>
            <a:r>
              <a:rPr sz="1200" dirty="0" err="1">
                <a:solidFill>
                  <a:srgbClr val="606B82"/>
                </a:solidFill>
              </a:rPr>
              <a:t>primaria</a:t>
            </a:r>
            <a:r>
              <a:rPr sz="1200" dirty="0">
                <a:solidFill>
                  <a:srgbClr val="606B82"/>
                </a:solidFill>
              </a:rPr>
              <a:t> </a:t>
            </a:r>
            <a:r>
              <a:rPr sz="1200" dirty="0" err="1">
                <a:solidFill>
                  <a:srgbClr val="606B82"/>
                </a:solidFill>
              </a:rPr>
              <a:t>composta</a:t>
            </a:r>
            <a:endParaRPr sz="1200" dirty="0">
              <a:solidFill>
                <a:srgbClr val="606B82"/>
              </a:solidFill>
            </a:endParaRPr>
          </a:p>
        </p:txBody>
      </p:sp>
      <p:sp>
        <p:nvSpPr>
          <p:cNvPr id="110" name="Rounded Rectangle 68"/>
          <p:cNvSpPr/>
          <p:nvPr/>
        </p:nvSpPr>
        <p:spPr>
          <a:xfrm>
            <a:off x="8077200" y="3374136"/>
            <a:ext cx="822960" cy="256032"/>
          </a:xfrm>
          <a:prstGeom prst="roundRect">
            <a:avLst>
              <a:gd name="adj" fmla="val 30000"/>
            </a:avLst>
          </a:prstGeom>
          <a:solidFill>
            <a:srgbClr val="FB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69"/>
          <p:cNvSpPr txBox="1"/>
          <p:nvPr/>
        </p:nvSpPr>
        <p:spPr>
          <a:xfrm>
            <a:off x="8067040" y="336036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36E16"/>
                </a:solidFill>
              </a:rPr>
              <a:t>event_id</a:t>
            </a:r>
          </a:p>
        </p:txBody>
      </p:sp>
      <p:sp>
        <p:nvSpPr>
          <p:cNvPr id="112" name="TextBox 70"/>
          <p:cNvSpPr txBox="1"/>
          <p:nvPr/>
        </p:nvSpPr>
        <p:spPr>
          <a:xfrm>
            <a:off x="9128760" y="33670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36E16"/>
                </a:solidFill>
              </a:rPr>
              <a:t>int</a:t>
            </a:r>
          </a:p>
        </p:txBody>
      </p:sp>
      <p:sp>
        <p:nvSpPr>
          <p:cNvPr id="113" name="TextBox 71"/>
          <p:cNvSpPr txBox="1"/>
          <p:nvPr/>
        </p:nvSpPr>
        <p:spPr>
          <a:xfrm>
            <a:off x="9860280" y="3372554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 err="1">
                <a:solidFill>
                  <a:srgbClr val="606B82"/>
                </a:solidFill>
              </a:rPr>
              <a:t>chiave</a:t>
            </a:r>
            <a:r>
              <a:rPr sz="1200" dirty="0">
                <a:solidFill>
                  <a:srgbClr val="606B82"/>
                </a:solidFill>
              </a:rPr>
              <a:t> </a:t>
            </a:r>
            <a:r>
              <a:rPr sz="1200" dirty="0" err="1">
                <a:solidFill>
                  <a:srgbClr val="606B82"/>
                </a:solidFill>
              </a:rPr>
              <a:t>primaria</a:t>
            </a:r>
            <a:r>
              <a:rPr sz="1200" dirty="0">
                <a:solidFill>
                  <a:srgbClr val="606B82"/>
                </a:solidFill>
              </a:rPr>
              <a:t> </a:t>
            </a:r>
            <a:r>
              <a:rPr sz="1200" dirty="0" err="1">
                <a:solidFill>
                  <a:srgbClr val="606B82"/>
                </a:solidFill>
              </a:rPr>
              <a:t>composta</a:t>
            </a:r>
            <a:endParaRPr sz="1200" dirty="0">
              <a:solidFill>
                <a:srgbClr val="606B82"/>
              </a:solidFill>
            </a:endParaRPr>
          </a:p>
        </p:txBody>
      </p:sp>
      <p:sp>
        <p:nvSpPr>
          <p:cNvPr id="114" name="TextBox 72"/>
          <p:cNvSpPr txBox="1"/>
          <p:nvPr/>
        </p:nvSpPr>
        <p:spPr>
          <a:xfrm>
            <a:off x="8086344" y="3968496"/>
            <a:ext cx="2743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06B82"/>
                </a:solidFill>
              </a:rPr>
              <a:t>collega utenti ed eventi</a:t>
            </a:r>
          </a:p>
        </p:txBody>
      </p:sp>
      <p:cxnSp>
        <p:nvCxnSpPr>
          <p:cNvPr id="115" name="Connector 73"/>
          <p:cNvCxnSpPr>
            <a:cxnSpLocks/>
          </p:cNvCxnSpPr>
          <p:nvPr/>
        </p:nvCxnSpPr>
        <p:spPr>
          <a:xfrm>
            <a:off x="2238246" y="4992624"/>
            <a:ext cx="0" cy="182880"/>
          </a:xfrm>
          <a:prstGeom prst="line">
            <a:avLst/>
          </a:prstGeom>
          <a:ln w="25400">
            <a:solidFill>
              <a:srgbClr val="0A99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74"/>
          <p:cNvCxnSpPr/>
          <p:nvPr/>
        </p:nvCxnSpPr>
        <p:spPr>
          <a:xfrm>
            <a:off x="2234183" y="5175504"/>
            <a:ext cx="3959353" cy="0"/>
          </a:xfrm>
          <a:prstGeom prst="line">
            <a:avLst/>
          </a:prstGeom>
          <a:ln w="25400">
            <a:solidFill>
              <a:srgbClr val="0A99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75"/>
          <p:cNvCxnSpPr>
            <a:cxnSpLocks/>
          </p:cNvCxnSpPr>
          <p:nvPr/>
        </p:nvCxnSpPr>
        <p:spPr>
          <a:xfrm>
            <a:off x="5882640" y="4813398"/>
            <a:ext cx="0" cy="576072"/>
          </a:xfrm>
          <a:prstGeom prst="line">
            <a:avLst/>
          </a:prstGeom>
          <a:ln w="25400">
            <a:solidFill>
              <a:srgbClr val="3B7BF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76"/>
          <p:cNvCxnSpPr/>
          <p:nvPr/>
        </p:nvCxnSpPr>
        <p:spPr>
          <a:xfrm>
            <a:off x="4264152" y="5175504"/>
            <a:ext cx="3200400" cy="0"/>
          </a:xfrm>
          <a:prstGeom prst="line">
            <a:avLst/>
          </a:prstGeom>
          <a:ln w="25400">
            <a:solidFill>
              <a:srgbClr val="3B7BF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77"/>
          <p:cNvCxnSpPr>
            <a:cxnSpLocks/>
          </p:cNvCxnSpPr>
          <p:nvPr/>
        </p:nvCxnSpPr>
        <p:spPr>
          <a:xfrm>
            <a:off x="9860280" y="4811776"/>
            <a:ext cx="0" cy="363728"/>
          </a:xfrm>
          <a:prstGeom prst="line">
            <a:avLst/>
          </a:prstGeom>
          <a:ln w="25400">
            <a:solidFill>
              <a:srgbClr val="F36E1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78"/>
          <p:cNvCxnSpPr/>
          <p:nvPr/>
        </p:nvCxnSpPr>
        <p:spPr>
          <a:xfrm>
            <a:off x="7446264" y="5175504"/>
            <a:ext cx="2414016" cy="0"/>
          </a:xfrm>
          <a:prstGeom prst="line">
            <a:avLst/>
          </a:prstGeom>
          <a:ln w="25400">
            <a:solidFill>
              <a:srgbClr val="F36E1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79"/>
          <p:cNvSpPr/>
          <p:nvPr/>
        </p:nvSpPr>
        <p:spPr>
          <a:xfrm>
            <a:off x="4175063" y="5047488"/>
            <a:ext cx="237744" cy="23774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A9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81"/>
          <p:cNvSpPr/>
          <p:nvPr/>
        </p:nvSpPr>
        <p:spPr>
          <a:xfrm>
            <a:off x="7373111" y="5047488"/>
            <a:ext cx="237744" cy="23774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36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84"/>
          <p:cNvSpPr/>
          <p:nvPr/>
        </p:nvSpPr>
        <p:spPr>
          <a:xfrm>
            <a:off x="4309872" y="5376672"/>
            <a:ext cx="2816352" cy="731520"/>
          </a:xfrm>
          <a:prstGeom prst="roundRect">
            <a:avLst>
              <a:gd name="adj" fmla="val 8000"/>
            </a:avLst>
          </a:prstGeom>
          <a:solidFill>
            <a:srgbClr val="FBF6E6"/>
          </a:solidFill>
          <a:ln w="15240">
            <a:solidFill>
              <a:srgbClr val="EAA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85"/>
          <p:cNvSpPr/>
          <p:nvPr/>
        </p:nvSpPr>
        <p:spPr>
          <a:xfrm>
            <a:off x="4492752" y="5577840"/>
            <a:ext cx="201168" cy="201168"/>
          </a:xfrm>
          <a:prstGeom prst="ellipse">
            <a:avLst/>
          </a:prstGeom>
          <a:noFill/>
          <a:ln w="22860">
            <a:solidFill>
              <a:srgbClr val="EAA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8" name="Connector 86"/>
          <p:cNvCxnSpPr/>
          <p:nvPr/>
        </p:nvCxnSpPr>
        <p:spPr>
          <a:xfrm>
            <a:off x="4684776" y="5678424"/>
            <a:ext cx="201168" cy="0"/>
          </a:xfrm>
          <a:prstGeom prst="line">
            <a:avLst/>
          </a:prstGeom>
          <a:ln w="25400">
            <a:solidFill>
              <a:srgbClr val="EAA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87"/>
          <p:cNvCxnSpPr/>
          <p:nvPr/>
        </p:nvCxnSpPr>
        <p:spPr>
          <a:xfrm>
            <a:off x="4803648" y="5678424"/>
            <a:ext cx="0" cy="54864"/>
          </a:xfrm>
          <a:prstGeom prst="line">
            <a:avLst/>
          </a:prstGeom>
          <a:ln w="25400">
            <a:solidFill>
              <a:srgbClr val="EAA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88"/>
          <p:cNvCxnSpPr/>
          <p:nvPr/>
        </p:nvCxnSpPr>
        <p:spPr>
          <a:xfrm>
            <a:off x="4867656" y="5678424"/>
            <a:ext cx="0" cy="54864"/>
          </a:xfrm>
          <a:prstGeom prst="line">
            <a:avLst/>
          </a:prstGeom>
          <a:ln w="25400">
            <a:solidFill>
              <a:srgbClr val="EAA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89"/>
          <p:cNvSpPr txBox="1"/>
          <p:nvPr/>
        </p:nvSpPr>
        <p:spPr>
          <a:xfrm>
            <a:off x="4977384" y="5496150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1A2743"/>
                </a:solidFill>
              </a:rPr>
              <a:t>Chiave</a:t>
            </a:r>
            <a:r>
              <a:rPr sz="1600" b="1" dirty="0">
                <a:solidFill>
                  <a:srgbClr val="1A2743"/>
                </a:solidFill>
              </a:rPr>
              <a:t> </a:t>
            </a:r>
            <a:r>
              <a:rPr sz="1600" b="1" dirty="0" err="1">
                <a:solidFill>
                  <a:srgbClr val="1A2743"/>
                </a:solidFill>
              </a:rPr>
              <a:t>composta</a:t>
            </a:r>
            <a:r>
              <a:rPr sz="1600" b="1" dirty="0">
                <a:solidFill>
                  <a:srgbClr val="1A2743"/>
                </a:solidFill>
              </a:rPr>
              <a:t>:</a:t>
            </a:r>
          </a:p>
          <a:p>
            <a:r>
              <a:rPr sz="1500" b="1" dirty="0">
                <a:solidFill>
                  <a:srgbClr val="1A2743"/>
                </a:solidFill>
              </a:rPr>
              <a:t>username + </a:t>
            </a:r>
            <a:r>
              <a:rPr sz="1500" b="1" dirty="0" err="1">
                <a:solidFill>
                  <a:srgbClr val="1A2743"/>
                </a:solidFill>
              </a:rPr>
              <a:t>event_id</a:t>
            </a:r>
            <a:endParaRPr sz="1500" b="1" dirty="0">
              <a:solidFill>
                <a:srgbClr val="1A2743"/>
              </a:solidFill>
            </a:endParaRPr>
          </a:p>
        </p:txBody>
      </p:sp>
      <p:sp>
        <p:nvSpPr>
          <p:cNvPr id="133" name="Oval 91"/>
          <p:cNvSpPr/>
          <p:nvPr/>
        </p:nvSpPr>
        <p:spPr>
          <a:xfrm>
            <a:off x="7568184" y="5598595"/>
            <a:ext cx="512064" cy="512064"/>
          </a:xfrm>
          <a:prstGeom prst="ellipse">
            <a:avLst/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92"/>
          <p:cNvSpPr txBox="1"/>
          <p:nvPr/>
        </p:nvSpPr>
        <p:spPr>
          <a:xfrm>
            <a:off x="7574280" y="5626027"/>
            <a:ext cx="5120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0A9991"/>
                </a:solidFill>
              </a:rPr>
              <a:t>✓</a:t>
            </a:r>
          </a:p>
        </p:txBody>
      </p:sp>
      <p:sp>
        <p:nvSpPr>
          <p:cNvPr id="135" name="TextBox 93"/>
          <p:cNvSpPr txBox="1"/>
          <p:nvPr/>
        </p:nvSpPr>
        <p:spPr>
          <a:xfrm>
            <a:off x="8077200" y="5525443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743"/>
                </a:solidFill>
              </a:rPr>
              <a:t>Relazioni</a:t>
            </a:r>
          </a:p>
        </p:txBody>
      </p:sp>
      <p:sp>
        <p:nvSpPr>
          <p:cNvPr id="136" name="TextBox 94"/>
          <p:cNvSpPr txBox="1"/>
          <p:nvPr/>
        </p:nvSpPr>
        <p:spPr>
          <a:xfrm>
            <a:off x="8077200" y="5750183"/>
            <a:ext cx="347018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A2743"/>
                </a:solidFill>
              </a:rPr>
              <a:t>Un </a:t>
            </a:r>
            <a:r>
              <a:rPr sz="1250" dirty="0" err="1">
                <a:solidFill>
                  <a:srgbClr val="1A2743"/>
                </a:solidFill>
              </a:rPr>
              <a:t>utente</a:t>
            </a:r>
            <a:r>
              <a:rPr sz="1250" dirty="0">
                <a:solidFill>
                  <a:srgbClr val="1A2743"/>
                </a:solidFill>
              </a:rPr>
              <a:t> </a:t>
            </a:r>
            <a:r>
              <a:rPr sz="1250" dirty="0" err="1">
                <a:solidFill>
                  <a:srgbClr val="1A2743"/>
                </a:solidFill>
              </a:rPr>
              <a:t>può</a:t>
            </a:r>
            <a:r>
              <a:rPr sz="1250" dirty="0">
                <a:solidFill>
                  <a:srgbClr val="1A2743"/>
                </a:solidFill>
              </a:rPr>
              <a:t> </a:t>
            </a:r>
            <a:r>
              <a:rPr sz="1250" dirty="0" err="1">
                <a:solidFill>
                  <a:srgbClr val="1A2743"/>
                </a:solidFill>
              </a:rPr>
              <a:t>registrarsi</a:t>
            </a:r>
            <a:r>
              <a:rPr sz="1250" dirty="0">
                <a:solidFill>
                  <a:srgbClr val="1A2743"/>
                </a:solidFill>
              </a:rPr>
              <a:t> a </a:t>
            </a:r>
            <a:r>
              <a:rPr sz="1250" dirty="0" err="1">
                <a:solidFill>
                  <a:srgbClr val="1A2743"/>
                </a:solidFill>
              </a:rPr>
              <a:t>molti</a:t>
            </a:r>
            <a:r>
              <a:rPr sz="1250" dirty="0">
                <a:solidFill>
                  <a:srgbClr val="1A2743"/>
                </a:solidFill>
              </a:rPr>
              <a:t> </a:t>
            </a:r>
            <a:r>
              <a:rPr sz="1250" dirty="0" err="1">
                <a:solidFill>
                  <a:srgbClr val="1A2743"/>
                </a:solidFill>
              </a:rPr>
              <a:t>eventi</a:t>
            </a:r>
            <a:r>
              <a:rPr sz="1250" dirty="0">
                <a:solidFill>
                  <a:srgbClr val="1A2743"/>
                </a:solidFill>
              </a:rPr>
              <a:t>.
Uno </a:t>
            </a:r>
            <a:r>
              <a:rPr sz="1250" dirty="0" err="1">
                <a:solidFill>
                  <a:srgbClr val="1A2743"/>
                </a:solidFill>
              </a:rPr>
              <a:t>stesso</a:t>
            </a:r>
            <a:r>
              <a:rPr sz="1250" dirty="0">
                <a:solidFill>
                  <a:srgbClr val="1A2743"/>
                </a:solidFill>
              </a:rPr>
              <a:t> </a:t>
            </a:r>
            <a:r>
              <a:rPr sz="1250" dirty="0" err="1">
                <a:solidFill>
                  <a:srgbClr val="1A2743"/>
                </a:solidFill>
              </a:rPr>
              <a:t>evento</a:t>
            </a:r>
            <a:r>
              <a:rPr sz="1250" dirty="0">
                <a:solidFill>
                  <a:srgbClr val="1A2743"/>
                </a:solidFill>
              </a:rPr>
              <a:t> </a:t>
            </a:r>
            <a:r>
              <a:rPr sz="1250" dirty="0" err="1">
                <a:solidFill>
                  <a:srgbClr val="1A2743"/>
                </a:solidFill>
              </a:rPr>
              <a:t>può</a:t>
            </a:r>
            <a:r>
              <a:rPr sz="1250" dirty="0">
                <a:solidFill>
                  <a:srgbClr val="1A2743"/>
                </a:solidFill>
              </a:rPr>
              <a:t> </a:t>
            </a:r>
            <a:r>
              <a:rPr sz="1250" dirty="0" err="1">
                <a:solidFill>
                  <a:srgbClr val="1A2743"/>
                </a:solidFill>
              </a:rPr>
              <a:t>avere</a:t>
            </a:r>
            <a:r>
              <a:rPr sz="1250" dirty="0">
                <a:solidFill>
                  <a:srgbClr val="1A2743"/>
                </a:solidFill>
              </a:rPr>
              <a:t> </a:t>
            </a:r>
            <a:r>
              <a:rPr sz="1250" dirty="0" err="1">
                <a:solidFill>
                  <a:srgbClr val="1A2743"/>
                </a:solidFill>
              </a:rPr>
              <a:t>molte</a:t>
            </a:r>
            <a:r>
              <a:rPr sz="1250" dirty="0">
                <a:solidFill>
                  <a:srgbClr val="1A2743"/>
                </a:solidFill>
              </a:rPr>
              <a:t> </a:t>
            </a:r>
            <a:r>
              <a:rPr sz="1250" dirty="0" err="1">
                <a:solidFill>
                  <a:srgbClr val="1A2743"/>
                </a:solidFill>
              </a:rPr>
              <a:t>registrazioni</a:t>
            </a:r>
            <a:endParaRPr sz="1250" dirty="0">
              <a:solidFill>
                <a:srgbClr val="1A2743"/>
              </a:solidFill>
            </a:endParaRPr>
          </a:p>
        </p:txBody>
      </p:sp>
      <p:sp>
        <p:nvSpPr>
          <p:cNvPr id="156" name="Oval 79">
            <a:extLst>
              <a:ext uri="{FF2B5EF4-FFF2-40B4-BE49-F238E27FC236}">
                <a16:creationId xmlns:a16="http://schemas.microsoft.com/office/drawing/2014/main" id="{28EC7390-C8DC-980C-F4F5-8AC3985FA3CB}"/>
              </a:ext>
            </a:extLst>
          </p:cNvPr>
          <p:cNvSpPr/>
          <p:nvPr/>
        </p:nvSpPr>
        <p:spPr>
          <a:xfrm>
            <a:off x="5762402" y="5053891"/>
            <a:ext cx="237744" cy="237744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0">
            <a:extLst>
              <a:ext uri="{FF2B5EF4-FFF2-40B4-BE49-F238E27FC236}">
                <a16:creationId xmlns:a16="http://schemas.microsoft.com/office/drawing/2014/main" id="{C698CB81-075D-6C53-9357-C5B4790F46CA}"/>
              </a:ext>
            </a:extLst>
          </p:cNvPr>
          <p:cNvSpPr/>
          <p:nvPr/>
        </p:nvSpPr>
        <p:spPr>
          <a:xfrm>
            <a:off x="1001133" y="5511468"/>
            <a:ext cx="3002282" cy="781812"/>
          </a:xfrm>
          <a:prstGeom prst="roundRect">
            <a:avLst>
              <a:gd name="adj" fmla="val 5581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8" name="Shape 10">
            <a:extLst>
              <a:ext uri="{FF2B5EF4-FFF2-40B4-BE49-F238E27FC236}">
                <a16:creationId xmlns:a16="http://schemas.microsoft.com/office/drawing/2014/main" id="{D3841C4C-437D-4852-5D64-78E46D8AE2D6}"/>
              </a:ext>
            </a:extLst>
          </p:cNvPr>
          <p:cNvSpPr/>
          <p:nvPr/>
        </p:nvSpPr>
        <p:spPr>
          <a:xfrm>
            <a:off x="982845" y="4181255"/>
            <a:ext cx="3008260" cy="781812"/>
          </a:xfrm>
          <a:prstGeom prst="roundRect">
            <a:avLst>
              <a:gd name="adj" fmla="val 5581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1" name="Shape 10">
            <a:extLst>
              <a:ext uri="{FF2B5EF4-FFF2-40B4-BE49-F238E27FC236}">
                <a16:creationId xmlns:a16="http://schemas.microsoft.com/office/drawing/2014/main" id="{1D3C99DA-0B1A-46A9-93FD-DB86644F8083}"/>
              </a:ext>
            </a:extLst>
          </p:cNvPr>
          <p:cNvSpPr/>
          <p:nvPr/>
        </p:nvSpPr>
        <p:spPr>
          <a:xfrm>
            <a:off x="998083" y="2912810"/>
            <a:ext cx="3002282" cy="781812"/>
          </a:xfrm>
          <a:prstGeom prst="roundRect">
            <a:avLst>
              <a:gd name="adj" fmla="val 5581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gestione</a:t>
            </a: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429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13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Processo di sviluppo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2344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E32C5B94-7C7D-0E8A-3E96-ECD68ECD1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797" y="1540764"/>
            <a:ext cx="5647334" cy="37325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1" name="Shape 7">
            <a:extLst>
              <a:ext uri="{FF2B5EF4-FFF2-40B4-BE49-F238E27FC236}">
                <a16:creationId xmlns:a16="http://schemas.microsoft.com/office/drawing/2014/main" id="{5D735ECB-CE5A-85DF-AE1A-CD1113BB6C08}"/>
              </a:ext>
            </a:extLst>
          </p:cNvPr>
          <p:cNvSpPr/>
          <p:nvPr/>
        </p:nvSpPr>
        <p:spPr>
          <a:xfrm rot="5400000">
            <a:off x="2357413" y="2487225"/>
            <a:ext cx="146304" cy="201168"/>
          </a:xfrm>
          <a:prstGeom prst="chevron">
            <a:avLst/>
          </a:prstGeom>
          <a:solidFill>
            <a:srgbClr val="0B9C92"/>
          </a:solidFill>
          <a:ln w="12700">
            <a:solidFill>
              <a:srgbClr val="0B9C9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AE2F85A5-35FA-AB7C-CEAA-C8DE9AE6B546}"/>
              </a:ext>
            </a:extLst>
          </p:cNvPr>
          <p:cNvSpPr/>
          <p:nvPr/>
        </p:nvSpPr>
        <p:spPr>
          <a:xfrm>
            <a:off x="992105" y="1650491"/>
            <a:ext cx="3008260" cy="781812"/>
          </a:xfrm>
          <a:prstGeom prst="roundRect">
            <a:avLst>
              <a:gd name="adj" fmla="val 5581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C79A583F-E21B-1948-44BE-AE42B533021D}"/>
              </a:ext>
            </a:extLst>
          </p:cNvPr>
          <p:cNvSpPr/>
          <p:nvPr/>
        </p:nvSpPr>
        <p:spPr>
          <a:xfrm>
            <a:off x="972996" y="1540764"/>
            <a:ext cx="2973521" cy="822959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5875">
            <a:solidFill>
              <a:srgbClr val="0B9C9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34FD3530-8CD8-307C-02BE-D3144E34EA53}"/>
              </a:ext>
            </a:extLst>
          </p:cNvPr>
          <p:cNvSpPr/>
          <p:nvPr/>
        </p:nvSpPr>
        <p:spPr>
          <a:xfrm>
            <a:off x="1174165" y="1723644"/>
            <a:ext cx="420624" cy="420624"/>
          </a:xfrm>
          <a:prstGeom prst="ellipse">
            <a:avLst/>
          </a:prstGeom>
          <a:solidFill>
            <a:srgbClr val="0B9C92"/>
          </a:solidFill>
          <a:ln w="12700">
            <a:solidFill>
              <a:srgbClr val="0B9C9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C423ECFE-FCDA-4E32-F5BE-E5C54B1A4A04}"/>
              </a:ext>
            </a:extLst>
          </p:cNvPr>
          <p:cNvSpPr/>
          <p:nvPr/>
        </p:nvSpPr>
        <p:spPr>
          <a:xfrm>
            <a:off x="1174165" y="1828485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297C8228-3CA7-1EC9-D5BF-22332EBFB2C7}"/>
              </a:ext>
            </a:extLst>
          </p:cNvPr>
          <p:cNvSpPr/>
          <p:nvPr/>
        </p:nvSpPr>
        <p:spPr>
          <a:xfrm>
            <a:off x="1722102" y="1805998"/>
            <a:ext cx="608599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17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C310819B-6DE1-CF94-74F9-94B1CB238788}"/>
              </a:ext>
            </a:extLst>
          </p:cNvPr>
          <p:cNvSpPr/>
          <p:nvPr/>
        </p:nvSpPr>
        <p:spPr>
          <a:xfrm>
            <a:off x="2606040" y="1760220"/>
            <a:ext cx="1061935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fork del repository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 virtuale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dipendenze installate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avvio del server locale</a:t>
            </a:r>
            <a:endParaRPr lang="en-US" sz="1150" dirty="0"/>
          </a:p>
        </p:txBody>
      </p:sp>
      <p:sp>
        <p:nvSpPr>
          <p:cNvPr id="57" name="Shape 20">
            <a:extLst>
              <a:ext uri="{FF2B5EF4-FFF2-40B4-BE49-F238E27FC236}">
                <a16:creationId xmlns:a16="http://schemas.microsoft.com/office/drawing/2014/main" id="{E7CB8E2A-9ADE-9C40-E901-C5047F15E8D6}"/>
              </a:ext>
            </a:extLst>
          </p:cNvPr>
          <p:cNvSpPr/>
          <p:nvPr/>
        </p:nvSpPr>
        <p:spPr>
          <a:xfrm>
            <a:off x="972996" y="2807181"/>
            <a:ext cx="2967611" cy="822959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5875">
            <a:solidFill>
              <a:srgbClr val="3B7BF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2BA9A5B7-F7A5-6348-22B0-69B8061D323C}"/>
              </a:ext>
            </a:extLst>
          </p:cNvPr>
          <p:cNvSpPr/>
          <p:nvPr/>
        </p:nvSpPr>
        <p:spPr>
          <a:xfrm>
            <a:off x="1174165" y="3008060"/>
            <a:ext cx="420624" cy="420624"/>
          </a:xfrm>
          <a:prstGeom prst="ellipse">
            <a:avLst/>
          </a:prstGeom>
          <a:solidFill>
            <a:srgbClr val="3B7BFF"/>
          </a:solidFill>
          <a:ln w="12700">
            <a:solidFill>
              <a:srgbClr val="3B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E0DDDD63-872F-94F3-FF40-7E357B979A24}"/>
              </a:ext>
            </a:extLst>
          </p:cNvPr>
          <p:cNvSpPr/>
          <p:nvPr/>
        </p:nvSpPr>
        <p:spPr>
          <a:xfrm>
            <a:off x="1169593" y="313402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FF50807F-9314-5F85-480F-D6482CE26D4A}"/>
              </a:ext>
            </a:extLst>
          </p:cNvPr>
          <p:cNvSpPr/>
          <p:nvPr/>
        </p:nvSpPr>
        <p:spPr>
          <a:xfrm>
            <a:off x="1722102" y="3026637"/>
            <a:ext cx="6075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</a:t>
            </a:r>
            <a:r>
              <a:rPr lang="en-US" sz="1700" b="1" dirty="0">
                <a:solidFill>
                  <a:srgbClr val="1B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dati</a:t>
            </a:r>
            <a:endParaRPr lang="en-US" sz="1700" dirty="0"/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DF4BCF08-CB3A-D3D4-4065-8850950D95EA}"/>
              </a:ext>
            </a:extLst>
          </p:cNvPr>
          <p:cNvSpPr/>
          <p:nvPr/>
        </p:nvSpPr>
        <p:spPr>
          <a:xfrm>
            <a:off x="2606040" y="2994632"/>
            <a:ext cx="106085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err="1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Creazione</a:t>
            </a: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delle </a:t>
            </a:r>
            <a:r>
              <a:rPr lang="en-US" sz="1150" dirty="0" err="1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tabelle</a:t>
            </a:r>
            <a:endParaRPr lang="en-US" sz="1150" dirty="0"/>
          </a:p>
        </p:txBody>
      </p:sp>
      <p:sp>
        <p:nvSpPr>
          <p:cNvPr id="75" name="Shape 29">
            <a:extLst>
              <a:ext uri="{FF2B5EF4-FFF2-40B4-BE49-F238E27FC236}">
                <a16:creationId xmlns:a16="http://schemas.microsoft.com/office/drawing/2014/main" id="{5D5F7CAB-1E8C-58B9-8E23-BE4D673591F5}"/>
              </a:ext>
            </a:extLst>
          </p:cNvPr>
          <p:cNvSpPr/>
          <p:nvPr/>
        </p:nvSpPr>
        <p:spPr>
          <a:xfrm>
            <a:off x="954709" y="4076257"/>
            <a:ext cx="2987038" cy="822959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5875">
            <a:solidFill>
              <a:srgbClr val="F36E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1197E80C-E811-E2E0-32F9-E3018ED6316D}"/>
              </a:ext>
            </a:extLst>
          </p:cNvPr>
          <p:cNvSpPr/>
          <p:nvPr/>
        </p:nvSpPr>
        <p:spPr>
          <a:xfrm>
            <a:off x="1155877" y="4277424"/>
            <a:ext cx="420624" cy="420624"/>
          </a:xfrm>
          <a:prstGeom prst="ellipse">
            <a:avLst/>
          </a:prstGeom>
          <a:solidFill>
            <a:srgbClr val="F36E16"/>
          </a:solidFill>
          <a:ln w="12700">
            <a:solidFill>
              <a:srgbClr val="F36E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Text 31">
            <a:extLst>
              <a:ext uri="{FF2B5EF4-FFF2-40B4-BE49-F238E27FC236}">
                <a16:creationId xmlns:a16="http://schemas.microsoft.com/office/drawing/2014/main" id="{75E858B5-A011-B7E2-1F77-33BF45070A65}"/>
              </a:ext>
            </a:extLst>
          </p:cNvPr>
          <p:cNvSpPr/>
          <p:nvPr/>
        </p:nvSpPr>
        <p:spPr>
          <a:xfrm>
            <a:off x="1155877" y="4389281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85" name="Text 34">
            <a:extLst>
              <a:ext uri="{FF2B5EF4-FFF2-40B4-BE49-F238E27FC236}">
                <a16:creationId xmlns:a16="http://schemas.microsoft.com/office/drawing/2014/main" id="{518EF486-5470-9527-3306-D122AC7769A2}"/>
              </a:ext>
            </a:extLst>
          </p:cNvPr>
          <p:cNvSpPr/>
          <p:nvPr/>
        </p:nvSpPr>
        <p:spPr>
          <a:xfrm>
            <a:off x="1726512" y="4320701"/>
            <a:ext cx="6027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700" dirty="0"/>
          </a:p>
        </p:txBody>
      </p:sp>
      <p:sp>
        <p:nvSpPr>
          <p:cNvPr id="89" name="Text 36">
            <a:extLst>
              <a:ext uri="{FF2B5EF4-FFF2-40B4-BE49-F238E27FC236}">
                <a16:creationId xmlns:a16="http://schemas.microsoft.com/office/drawing/2014/main" id="{A2CBA912-E12C-0366-4676-5D61C901AA22}"/>
              </a:ext>
            </a:extLst>
          </p:cNvPr>
          <p:cNvSpPr/>
          <p:nvPr/>
        </p:nvSpPr>
        <p:spPr>
          <a:xfrm>
            <a:off x="2600089" y="4277424"/>
            <a:ext cx="1307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per eventi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per utenti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per registrazioni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request/response JSON</a:t>
            </a:r>
            <a:endParaRPr lang="en-US" sz="1150" dirty="0"/>
          </a:p>
        </p:txBody>
      </p:sp>
      <p:sp>
        <p:nvSpPr>
          <p:cNvPr id="93" name="Shape 38">
            <a:extLst>
              <a:ext uri="{FF2B5EF4-FFF2-40B4-BE49-F238E27FC236}">
                <a16:creationId xmlns:a16="http://schemas.microsoft.com/office/drawing/2014/main" id="{73E1045E-6ACA-FDA8-5C54-84527B1DFC4B}"/>
              </a:ext>
            </a:extLst>
          </p:cNvPr>
          <p:cNvSpPr/>
          <p:nvPr/>
        </p:nvSpPr>
        <p:spPr>
          <a:xfrm>
            <a:off x="972995" y="5385849"/>
            <a:ext cx="2967611" cy="818592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58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5" name="Shape 39">
            <a:extLst>
              <a:ext uri="{FF2B5EF4-FFF2-40B4-BE49-F238E27FC236}">
                <a16:creationId xmlns:a16="http://schemas.microsoft.com/office/drawing/2014/main" id="{6B12A523-C7F7-B5AE-7A31-3BBD2698AFC8}"/>
              </a:ext>
            </a:extLst>
          </p:cNvPr>
          <p:cNvSpPr/>
          <p:nvPr/>
        </p:nvSpPr>
        <p:spPr>
          <a:xfrm>
            <a:off x="1155877" y="5586497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7" name="Text 40">
            <a:extLst>
              <a:ext uri="{FF2B5EF4-FFF2-40B4-BE49-F238E27FC236}">
                <a16:creationId xmlns:a16="http://schemas.microsoft.com/office/drawing/2014/main" id="{A38D89A8-4691-1FA2-06B7-88C40156D5CA}"/>
              </a:ext>
            </a:extLst>
          </p:cNvPr>
          <p:cNvSpPr/>
          <p:nvPr/>
        </p:nvSpPr>
        <p:spPr>
          <a:xfrm>
            <a:off x="1155877" y="570131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03" name="Text 43">
            <a:extLst>
              <a:ext uri="{FF2B5EF4-FFF2-40B4-BE49-F238E27FC236}">
                <a16:creationId xmlns:a16="http://schemas.microsoft.com/office/drawing/2014/main" id="{EA7216B5-1E95-D78F-9B4D-8E8C488CD893}"/>
              </a:ext>
            </a:extLst>
          </p:cNvPr>
          <p:cNvSpPr/>
          <p:nvPr/>
        </p:nvSpPr>
        <p:spPr>
          <a:xfrm>
            <a:off x="1722102" y="5632730"/>
            <a:ext cx="6067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</a:t>
            </a:r>
            <a:endParaRPr lang="en-US" sz="1700" dirty="0"/>
          </a:p>
        </p:txBody>
      </p:sp>
      <p:sp>
        <p:nvSpPr>
          <p:cNvPr id="107" name="Text 45">
            <a:extLst>
              <a:ext uri="{FF2B5EF4-FFF2-40B4-BE49-F238E27FC236}">
                <a16:creationId xmlns:a16="http://schemas.microsoft.com/office/drawing/2014/main" id="{D2A998AD-8FE3-68B2-56F5-29DD60366379}"/>
              </a:ext>
            </a:extLst>
          </p:cNvPr>
          <p:cNvSpPr/>
          <p:nvPr/>
        </p:nvSpPr>
        <p:spPr>
          <a:xfrm>
            <a:off x="2606040" y="5584064"/>
            <a:ext cx="21579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automatici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controllo degli errori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E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risultato della pipeline</a:t>
            </a:r>
            <a:endParaRPr lang="en-US" sz="11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put penna 107">
                <a:extLst>
                  <a:ext uri="{FF2B5EF4-FFF2-40B4-BE49-F238E27FC236}">
                    <a16:creationId xmlns:a16="http://schemas.microsoft.com/office/drawing/2014/main" id="{B3DCE686-48C7-2E54-EEB4-EE943F09BC7D}"/>
                  </a:ext>
                </a:extLst>
              </p14:cNvPr>
              <p14:cNvContentPartPr/>
              <p14:nvPr/>
            </p14:nvContentPartPr>
            <p14:xfrm>
              <a:off x="2430925" y="1712736"/>
              <a:ext cx="360" cy="500400"/>
            </p14:xfrm>
          </p:contentPart>
        </mc:Choice>
        <mc:Fallback xmlns="">
          <p:pic>
            <p:nvPicPr>
              <p:cNvPr id="108" name="Input penna 107">
                <a:extLst>
                  <a:ext uri="{FF2B5EF4-FFF2-40B4-BE49-F238E27FC236}">
                    <a16:creationId xmlns:a16="http://schemas.microsoft.com/office/drawing/2014/main" id="{B3DCE686-48C7-2E54-EEB4-EE943F09BC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24805" y="1706616"/>
                <a:ext cx="1260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put penna 108">
                <a:extLst>
                  <a:ext uri="{FF2B5EF4-FFF2-40B4-BE49-F238E27FC236}">
                    <a16:creationId xmlns:a16="http://schemas.microsoft.com/office/drawing/2014/main" id="{AE085B48-5621-EC4D-56B4-D5E1A9E73EBF}"/>
                  </a:ext>
                </a:extLst>
              </p14:cNvPr>
              <p14:cNvContentPartPr/>
              <p14:nvPr/>
            </p14:nvContentPartPr>
            <p14:xfrm>
              <a:off x="2430925" y="2995917"/>
              <a:ext cx="360" cy="500400"/>
            </p14:xfrm>
          </p:contentPart>
        </mc:Choice>
        <mc:Fallback xmlns="">
          <p:pic>
            <p:nvPicPr>
              <p:cNvPr id="109" name="Input penna 108">
                <a:extLst>
                  <a:ext uri="{FF2B5EF4-FFF2-40B4-BE49-F238E27FC236}">
                    <a16:creationId xmlns:a16="http://schemas.microsoft.com/office/drawing/2014/main" id="{AE085B48-5621-EC4D-56B4-D5E1A9E73E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4805" y="2989797"/>
                <a:ext cx="1260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4" name="Input penna 113">
                <a:extLst>
                  <a:ext uri="{FF2B5EF4-FFF2-40B4-BE49-F238E27FC236}">
                    <a16:creationId xmlns:a16="http://schemas.microsoft.com/office/drawing/2014/main" id="{D16542D5-0EC7-8133-3D87-BA259CD52812}"/>
                  </a:ext>
                </a:extLst>
              </p14:cNvPr>
              <p14:cNvContentPartPr/>
              <p14:nvPr/>
            </p14:nvContentPartPr>
            <p14:xfrm>
              <a:off x="2430565" y="4241111"/>
              <a:ext cx="360" cy="500400"/>
            </p14:xfrm>
          </p:contentPart>
        </mc:Choice>
        <mc:Fallback xmlns="">
          <p:pic>
            <p:nvPicPr>
              <p:cNvPr id="114" name="Input penna 113">
                <a:extLst>
                  <a:ext uri="{FF2B5EF4-FFF2-40B4-BE49-F238E27FC236}">
                    <a16:creationId xmlns:a16="http://schemas.microsoft.com/office/drawing/2014/main" id="{D16542D5-0EC7-8133-3D87-BA259CD528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24445" y="4234991"/>
                <a:ext cx="12600" cy="512640"/>
              </a:xfrm>
              <a:prstGeom prst="rect">
                <a:avLst/>
              </a:prstGeom>
            </p:spPr>
          </p:pic>
        </mc:Fallback>
      </mc:AlternateContent>
      <p:sp>
        <p:nvSpPr>
          <p:cNvPr id="116" name="Shape 7">
            <a:extLst>
              <a:ext uri="{FF2B5EF4-FFF2-40B4-BE49-F238E27FC236}">
                <a16:creationId xmlns:a16="http://schemas.microsoft.com/office/drawing/2014/main" id="{8BC855CE-9B29-9AA3-F27A-36C5C456CBA6}"/>
              </a:ext>
            </a:extLst>
          </p:cNvPr>
          <p:cNvSpPr/>
          <p:nvPr/>
        </p:nvSpPr>
        <p:spPr>
          <a:xfrm rot="5400000">
            <a:off x="2358133" y="3773927"/>
            <a:ext cx="146304" cy="201168"/>
          </a:xfrm>
          <a:prstGeom prst="chevron">
            <a:avLst/>
          </a:prstGeom>
          <a:solidFill>
            <a:srgbClr val="0B9C92"/>
          </a:solidFill>
          <a:ln w="12700">
            <a:solidFill>
              <a:srgbClr val="0B9C9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0" name="Shape 7">
            <a:extLst>
              <a:ext uri="{FF2B5EF4-FFF2-40B4-BE49-F238E27FC236}">
                <a16:creationId xmlns:a16="http://schemas.microsoft.com/office/drawing/2014/main" id="{C4E79C07-F250-656B-74DB-3A263E09468E}"/>
              </a:ext>
            </a:extLst>
          </p:cNvPr>
          <p:cNvSpPr/>
          <p:nvPr/>
        </p:nvSpPr>
        <p:spPr>
          <a:xfrm rot="5400000">
            <a:off x="2358133" y="5022501"/>
            <a:ext cx="146304" cy="201168"/>
          </a:xfrm>
          <a:prstGeom prst="chevron">
            <a:avLst/>
          </a:prstGeom>
          <a:solidFill>
            <a:srgbClr val="0B9C92"/>
          </a:solidFill>
          <a:ln w="12700">
            <a:solidFill>
              <a:srgbClr val="0B9C9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1" name="Input penna 120">
                <a:extLst>
                  <a:ext uri="{FF2B5EF4-FFF2-40B4-BE49-F238E27FC236}">
                    <a16:creationId xmlns:a16="http://schemas.microsoft.com/office/drawing/2014/main" id="{311E2581-E6DA-54C4-F802-4E377404D69F}"/>
                  </a:ext>
                </a:extLst>
              </p14:cNvPr>
              <p14:cNvContentPartPr/>
              <p14:nvPr/>
            </p14:nvContentPartPr>
            <p14:xfrm>
              <a:off x="2430041" y="5555466"/>
              <a:ext cx="360" cy="500400"/>
            </p14:xfrm>
          </p:contentPart>
        </mc:Choice>
        <mc:Fallback xmlns="">
          <p:pic>
            <p:nvPicPr>
              <p:cNvPr id="121" name="Input penna 120">
                <a:extLst>
                  <a:ext uri="{FF2B5EF4-FFF2-40B4-BE49-F238E27FC236}">
                    <a16:creationId xmlns:a16="http://schemas.microsoft.com/office/drawing/2014/main" id="{311E2581-E6DA-54C4-F802-4E377404D6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23921" y="5549346"/>
                <a:ext cx="12600" cy="51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gestione</a:t>
            </a: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429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FUNZIONALITÀ BACKEND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13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Gestione</a:t>
            </a: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degli </a:t>
            </a:r>
            <a:r>
              <a:rPr lang="en-US" sz="28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eventi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2344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525780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850392" y="1636776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05256" y="1700784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00200" y="1673352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1664208"/>
            <a:ext cx="2148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elenco eventi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31520" y="2176272"/>
            <a:ext cx="525780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850392" y="2304288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05256" y="2368296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00200" y="2340864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2331720"/>
            <a:ext cx="2148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creazione nuovo evento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31520" y="2843784"/>
            <a:ext cx="525780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50392" y="297180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05256" y="3035808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00200" y="3008376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/events/{id}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03320" y="2999232"/>
            <a:ext cx="2148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dettaglio evento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731520" y="3511296"/>
            <a:ext cx="525780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850392" y="3639312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905256" y="3703320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00200" y="3675888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/events/{id}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03320" y="3666744"/>
            <a:ext cx="2148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 evento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31520" y="4178808"/>
            <a:ext cx="525780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850392" y="4306824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905256" y="4370832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00200" y="4343400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/events/{id}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03320" y="4334256"/>
            <a:ext cx="2148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eliminazione evento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731520" y="4846320"/>
            <a:ext cx="525780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850392" y="4974336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905256" y="5038344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600200" y="5010912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/events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703320" y="5001768"/>
            <a:ext cx="2148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eliminazione di tutti gli eventi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6409944" y="1664208"/>
            <a:ext cx="4507992" cy="3529584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13B8A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41" name="Image 0" descr="/mnt/data/ppt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94332"/>
            <a:ext cx="4434840" cy="3269336"/>
          </a:xfrm>
          <a:prstGeom prst="rect">
            <a:avLst/>
          </a:prstGeom>
        </p:spPr>
      </p:pic>
      <p:pic>
        <p:nvPicPr>
          <p:cNvPr id="55" name="Immagine 54">
            <a:extLst>
              <a:ext uri="{FF2B5EF4-FFF2-40B4-BE49-F238E27FC236}">
                <a16:creationId xmlns:a16="http://schemas.microsoft.com/office/drawing/2014/main" id="{6E182348-5479-24D1-8E18-473E363490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282" r="2447" b="23421"/>
          <a:stretch>
            <a:fillRect/>
          </a:stretch>
        </p:blipFill>
        <p:spPr>
          <a:xfrm>
            <a:off x="2814865" y="5504687"/>
            <a:ext cx="6561963" cy="1014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gestione</a:t>
            </a: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429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GESTIONE UTENTI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13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Gestione</a:t>
            </a: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degli </a:t>
            </a:r>
            <a:r>
              <a:rPr lang="en-US" sz="28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utenti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2344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731520" y="1572768"/>
            <a:ext cx="507492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850392" y="1700784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05256" y="1764792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00200" y="1737360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1728216"/>
            <a:ext cx="1965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elenco utenti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31520" y="2240280"/>
            <a:ext cx="507492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850392" y="2368296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05256" y="2432304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00200" y="2404872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2395728"/>
            <a:ext cx="1965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creazione utente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31520" y="2907792"/>
            <a:ext cx="507492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50392" y="3035808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05256" y="3099816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00200" y="3072384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/users/{username}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03320" y="3063240"/>
            <a:ext cx="1965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dettaglio utente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731520" y="3575304"/>
            <a:ext cx="507492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850392" y="370332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905256" y="3767328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00200" y="3739896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/users/{username}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03320" y="3730752"/>
            <a:ext cx="1965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eliminazione utente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31520" y="4242816"/>
            <a:ext cx="507492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850392" y="4370832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905256" y="4434840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00200" y="4407408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03320" y="4398264"/>
            <a:ext cx="1965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eliminazione di tutti gli utenti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6446520" y="1577340"/>
            <a:ext cx="2057400" cy="1600200"/>
          </a:xfrm>
          <a:prstGeom prst="roundRect">
            <a:avLst>
              <a:gd name="adj" fmla="val 7429"/>
            </a:avLst>
          </a:prstGeom>
          <a:solidFill>
            <a:srgbClr val="E6F0FF"/>
          </a:solidFill>
          <a:ln w="12700">
            <a:solidFill>
              <a:srgbClr val="3B82F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592824" y="1687068"/>
            <a:ext cx="365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068312" y="1723644"/>
            <a:ext cx="1289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Identificativo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611112" y="2080260"/>
            <a:ext cx="172821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username come chiave primaria: non deve essere duplicato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15400" y="1577340"/>
            <a:ext cx="2057400" cy="1600200"/>
          </a:xfrm>
          <a:prstGeom prst="roundRect">
            <a:avLst>
              <a:gd name="adj" fmla="val 7429"/>
            </a:avLst>
          </a:prstGeom>
          <a:solidFill>
            <a:srgbClr val="DDF7F3"/>
          </a:solidFill>
          <a:ln w="12700">
            <a:solidFill>
              <a:srgbClr val="13B8A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9061704" y="1687068"/>
            <a:ext cx="365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537192" y="1723644"/>
            <a:ext cx="1289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Validazione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9079992" y="2080260"/>
            <a:ext cx="172821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ed email obbligatori nel body della richiesta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46520" y="3538288"/>
            <a:ext cx="4526280" cy="1234440"/>
          </a:xfrm>
          <a:prstGeom prst="roundRect">
            <a:avLst>
              <a:gd name="adj" fmla="val 9630"/>
            </a:avLst>
          </a:prstGeom>
          <a:solidFill>
            <a:srgbClr val="F8FAFC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6611112" y="3702880"/>
            <a:ext cx="419709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"username": "mario.rossi",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"Mario Rossi",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"mario.rossi@example.com"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pic>
        <p:nvPicPr>
          <p:cNvPr id="46" name="Immagine 45">
            <a:extLst>
              <a:ext uri="{FF2B5EF4-FFF2-40B4-BE49-F238E27FC236}">
                <a16:creationId xmlns:a16="http://schemas.microsoft.com/office/drawing/2014/main" id="{958C462E-1041-1A0F-65A0-DCCD8BFF9F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433" r="5200" b="22611"/>
          <a:stretch>
            <a:fillRect/>
          </a:stretch>
        </p:blipFill>
        <p:spPr>
          <a:xfrm>
            <a:off x="2305088" y="5046709"/>
            <a:ext cx="7581518" cy="11985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gestione eventi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429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CREAZIONE REGISTRAZIONE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13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Registrazione</a:t>
            </a: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 un </a:t>
            </a:r>
            <a:r>
              <a:rPr lang="en-US" sz="28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evento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2344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2651760" y="2391918"/>
            <a:ext cx="1051560" cy="0"/>
          </a:xfrm>
          <a:prstGeom prst="line">
            <a:avLst/>
          </a:prstGeom>
          <a:noFill/>
          <a:ln w="19050">
            <a:solidFill>
              <a:srgbClr val="13B8A6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5486400" y="2391918"/>
            <a:ext cx="1051560" cy="0"/>
          </a:xfrm>
          <a:prstGeom prst="line">
            <a:avLst/>
          </a:prstGeom>
          <a:noFill/>
          <a:ln w="19050">
            <a:solidFill>
              <a:srgbClr val="13B8A6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8321040" y="2391918"/>
            <a:ext cx="1051560" cy="0"/>
          </a:xfrm>
          <a:prstGeom prst="line">
            <a:avLst/>
          </a:prstGeom>
          <a:noFill/>
          <a:ln w="19050">
            <a:solidFill>
              <a:srgbClr val="13B8A6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777240" y="1724406"/>
            <a:ext cx="1920240" cy="1325880"/>
          </a:xfrm>
          <a:prstGeom prst="roundRect">
            <a:avLst>
              <a:gd name="adj" fmla="val 8966"/>
            </a:avLst>
          </a:prstGeom>
          <a:solidFill>
            <a:srgbClr val="E6F0FF"/>
          </a:solidFill>
          <a:ln w="12700">
            <a:solidFill>
              <a:srgbClr val="3B82F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23544" y="1834134"/>
            <a:ext cx="365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99032" y="1870710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Utente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41832" y="2227326"/>
            <a:ext cx="159105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username, name, email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11880" y="1724406"/>
            <a:ext cx="1920240" cy="1325880"/>
          </a:xfrm>
          <a:prstGeom prst="roundRect">
            <a:avLst>
              <a:gd name="adj" fmla="val 8966"/>
            </a:avLst>
          </a:prstGeom>
          <a:solidFill>
            <a:srgbClr val="DDF7F3"/>
          </a:solidFill>
          <a:ln w="12700">
            <a:solidFill>
              <a:srgbClr val="13B8A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758184" y="1834134"/>
            <a:ext cx="365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33672" y="1870710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76472" y="2227326"/>
            <a:ext cx="159105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nel path /events/{id}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1614678"/>
            <a:ext cx="2011680" cy="1536192"/>
          </a:xfrm>
          <a:prstGeom prst="roundRect">
            <a:avLst>
              <a:gd name="adj" fmla="val 7738"/>
            </a:avLst>
          </a:prstGeom>
          <a:solidFill>
            <a:srgbClr val="FFF4D6"/>
          </a:solidFill>
          <a:ln w="12700">
            <a:solidFill>
              <a:srgbClr val="F59E0B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592824" y="1724406"/>
            <a:ext cx="365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68312" y="1760982"/>
            <a:ext cx="1243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611112" y="2117598"/>
            <a:ext cx="168249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esistenza evento</a:t>
            </a:r>
            <a:endParaRPr lang="en-US" sz="1050" dirty="0"/>
          </a:p>
          <a:p>
            <a:r>
              <a:rPr lang="it-IT" sz="1050" dirty="0">
                <a:solidFill>
                  <a:srgbClr val="7B8290"/>
                </a:solidFill>
              </a:rPr>
              <a:t>utente esistente o creato automaticamente</a:t>
            </a:r>
          </a:p>
          <a:p>
            <a:r>
              <a:rPr lang="en-US" sz="1050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iscrizione</a:t>
            </a: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già presente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81160" y="1724406"/>
            <a:ext cx="1920240" cy="1325880"/>
          </a:xfrm>
          <a:prstGeom prst="roundRect">
            <a:avLst>
              <a:gd name="adj" fmla="val 8966"/>
            </a:avLst>
          </a:prstGeom>
          <a:solidFill>
            <a:srgbClr val="E9F9EF"/>
          </a:solidFill>
          <a:ln w="12700">
            <a:solidFill>
              <a:srgbClr val="22C55E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9427464" y="1834134"/>
            <a:ext cx="365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902952" y="1870710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445752" y="2227326"/>
            <a:ext cx="159105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username + event_id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3585972"/>
            <a:ext cx="4297680" cy="1417320"/>
          </a:xfrm>
          <a:prstGeom prst="roundRect">
            <a:avLst>
              <a:gd name="adj" fmla="val 8387"/>
            </a:avLst>
          </a:prstGeom>
          <a:solidFill>
            <a:srgbClr val="F8FAFC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941832" y="3750564"/>
            <a:ext cx="396849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/events/{id}/register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"username": "mario.rossi",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"Mario Rossi",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"mario.rossi@example.com"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43775" y="3585971"/>
            <a:ext cx="3854735" cy="3006845"/>
          </a:xfrm>
          <a:prstGeom prst="roundRect">
            <a:avLst>
              <a:gd name="adj" fmla="val 7514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pic>
        <p:nvPicPr>
          <p:cNvPr id="32" name="Image 0" descr="/mnt/data/pptmedia/image7.png"/>
          <p:cNvPicPr>
            <a:picLocks noChangeAspect="1"/>
          </p:cNvPicPr>
          <p:nvPr/>
        </p:nvPicPr>
        <p:blipFill>
          <a:blip r:embed="rId3"/>
          <a:srcRect t="16496" r="2473" b="10680"/>
          <a:stretch>
            <a:fillRect/>
          </a:stretch>
        </p:blipFill>
        <p:spPr>
          <a:xfrm>
            <a:off x="7473420" y="3683508"/>
            <a:ext cx="3604794" cy="2722222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CB8CD7CF-DC2C-5F0F-A576-65BDF71105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71" t="27740" r="7019" b="20878"/>
          <a:stretch>
            <a:fillRect/>
          </a:stretch>
        </p:blipFill>
        <p:spPr>
          <a:xfrm>
            <a:off x="777239" y="5142356"/>
            <a:ext cx="6262971" cy="1054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gestione</a:t>
            </a: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429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RELAZIONE UTENTE-EVENTO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13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Gestione delle registrazioni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2344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777240" y="1600200"/>
            <a:ext cx="548640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896112" y="1728216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50976" y="1792224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45920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/registrations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visualizza tutte le registrazioni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77240" y="2377440"/>
            <a:ext cx="548640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896112" y="2505456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50976" y="2569464"/>
            <a:ext cx="512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45920" y="2600618"/>
            <a:ext cx="1920240" cy="941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/registrations?username=...&amp;event_id=...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532888"/>
            <a:ext cx="2377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 una registrazione specifica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463040" y="3390826"/>
            <a:ext cx="2880360" cy="1051560"/>
          </a:xfrm>
          <a:prstGeom prst="roundRect">
            <a:avLst>
              <a:gd name="adj" fmla="val 11304"/>
            </a:avLst>
          </a:prstGeom>
          <a:solidFill>
            <a:srgbClr val="F8FAFC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627632" y="3582850"/>
            <a:ext cx="255117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"username": "mario.rossi",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"event_id": 3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390826"/>
            <a:ext cx="2331720" cy="1051560"/>
          </a:xfrm>
          <a:prstGeom prst="roundRect">
            <a:avLst>
              <a:gd name="adj" fmla="val 11304"/>
            </a:avLst>
          </a:prstGeom>
          <a:solidFill>
            <a:srgbClr val="EFE8FF"/>
          </a:solidFill>
          <a:ln w="12700">
            <a:solidFill>
              <a:srgbClr val="8B5CF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901184" y="3500554"/>
            <a:ext cx="365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76672" y="3537130"/>
            <a:ext cx="15636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parameters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919472" y="3893746"/>
            <a:ext cx="200253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username ed event_id sono passati dopo il simbolo 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98080" y="3390826"/>
            <a:ext cx="3063240" cy="1051560"/>
          </a:xfrm>
          <a:prstGeom prst="roundRect">
            <a:avLst>
              <a:gd name="adj" fmla="val 11304"/>
            </a:avLst>
          </a:prstGeom>
          <a:solidFill>
            <a:srgbClr val="E9F9EF"/>
          </a:solidFill>
          <a:ln w="12700">
            <a:solidFill>
              <a:srgbClr val="22C55E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7644384" y="3500554"/>
            <a:ext cx="365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119872" y="3537130"/>
            <a:ext cx="2295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Cancellazione collegata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662672" y="3893746"/>
            <a:ext cx="273405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viene eliminato un evento, vengono rimosse anche le registrazioni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75704" y="1781482"/>
            <a:ext cx="4726070" cy="1005840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12700">
            <a:solidFill>
              <a:srgbClr val="13B8A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31" name="Image 0" descr="/mnt/data/ppt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818" y="1926188"/>
            <a:ext cx="4615841" cy="716427"/>
          </a:xfrm>
          <a:prstGeom prst="rect">
            <a:avLst/>
          </a:prstGeom>
        </p:spPr>
      </p:pic>
      <p:pic>
        <p:nvPicPr>
          <p:cNvPr id="33" name="Immagine 32">
            <a:extLst>
              <a:ext uri="{FF2B5EF4-FFF2-40B4-BE49-F238E27FC236}">
                <a16:creationId xmlns:a16="http://schemas.microsoft.com/office/drawing/2014/main" id="{1F93B93E-9D85-FDF0-39F1-872F495A39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794" b="21756"/>
          <a:stretch>
            <a:fillRect/>
          </a:stretch>
        </p:blipFill>
        <p:spPr>
          <a:xfrm>
            <a:off x="1517904" y="4689012"/>
            <a:ext cx="9089136" cy="1430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gestione</a:t>
            </a: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429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ROBUSTEZZA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13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Validazione e gestione degli errori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2344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621792" y="1728216"/>
            <a:ext cx="2468880" cy="2359152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solidFill>
              <a:srgbClr val="13B8A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50392" y="2002536"/>
            <a:ext cx="2468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Controlli lato server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1465" y="1728216"/>
            <a:ext cx="2487168" cy="2359152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560065" y="2002536"/>
            <a:ext cx="2468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code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78353" y="2378583"/>
            <a:ext cx="22402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OK</a:t>
            </a:r>
            <a:endParaRPr lang="en-US" sz="1180" dirty="0"/>
          </a:p>
          <a:p>
            <a:r>
              <a:rPr lang="en-US" sz="11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 Created</a:t>
            </a:r>
            <a:endParaRPr lang="en-US" sz="1180" dirty="0"/>
          </a:p>
          <a:p>
            <a:r>
              <a:rPr lang="en-US" sz="11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Not Found</a:t>
            </a:r>
            <a:endParaRPr lang="en-US" sz="1180" dirty="0"/>
          </a:p>
          <a:p>
            <a:r>
              <a:rPr lang="en-US" sz="11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422 Unprocessable Entity</a:t>
            </a:r>
            <a:endParaRPr lang="en-US" sz="1180" dirty="0"/>
          </a:p>
          <a:p>
            <a:endParaRPr lang="en-US" sz="1180" dirty="0">
              <a:solidFill>
                <a:srgbClr val="3F4A5D"/>
              </a:solidFill>
            </a:endParaRPr>
          </a:p>
        </p:txBody>
      </p:sp>
      <p:sp>
        <p:nvSpPr>
          <p:cNvPr id="16" name="Shape 14"/>
          <p:cNvSpPr>
            <a:spLocks/>
          </p:cNvSpPr>
          <p:nvPr/>
        </p:nvSpPr>
        <p:spPr>
          <a:xfrm>
            <a:off x="6050698" y="1728216"/>
            <a:ext cx="2697480" cy="2359152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7" name="Text 15"/>
          <p:cNvSpPr/>
          <p:nvPr/>
        </p:nvSpPr>
        <p:spPr>
          <a:xfrm>
            <a:off x="6279298" y="2002536"/>
            <a:ext cx="2468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Esempi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50438" y="2358410"/>
            <a:ext cx="1465071" cy="19578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/events/999999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850392" y="2281429"/>
            <a:ext cx="22402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80" dirty="0" err="1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campi</a:t>
            </a:r>
            <a:r>
              <a:rPr lang="en-US" sz="11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80" dirty="0" err="1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obbligatori</a:t>
            </a:r>
            <a:endParaRPr lang="en-US" sz="1180" dirty="0"/>
          </a:p>
          <a:p>
            <a:r>
              <a:rPr lang="en-US" sz="1180" dirty="0" err="1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</a:t>
            </a:r>
            <a:r>
              <a:rPr lang="en-US" sz="11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80" dirty="0" err="1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dei</a:t>
            </a:r>
            <a:r>
              <a:rPr lang="en-US" sz="11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80" dirty="0" err="1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</a:t>
            </a:r>
            <a:endParaRPr lang="en-US" sz="1180" dirty="0"/>
          </a:p>
          <a:p>
            <a:r>
              <a:rPr lang="en-US" sz="1180" dirty="0" err="1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</a:t>
            </a:r>
            <a:r>
              <a:rPr lang="en-US" sz="11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data</a:t>
            </a:r>
            <a:endParaRPr lang="en-US" sz="1180" dirty="0"/>
          </a:p>
          <a:p>
            <a:r>
              <a:rPr lang="en-US" sz="1180" dirty="0" err="1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risorse</a:t>
            </a:r>
            <a:r>
              <a:rPr lang="en-US" sz="11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80" dirty="0" err="1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esistenti</a:t>
            </a:r>
            <a:endParaRPr lang="en-US" sz="1180" dirty="0"/>
          </a:p>
          <a:p>
            <a:r>
              <a:rPr lang="en-US" sz="1180" dirty="0" err="1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duplicati</a:t>
            </a:r>
            <a:endParaRPr lang="en-US" sz="1180" dirty="0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CA851AE0-2A55-1698-31EE-0D62AC5E059A}"/>
              </a:ext>
            </a:extLst>
          </p:cNvPr>
          <p:cNvSpPr/>
          <p:nvPr/>
        </p:nvSpPr>
        <p:spPr>
          <a:xfrm>
            <a:off x="9021699" y="2385258"/>
            <a:ext cx="2697480" cy="1043559"/>
          </a:xfrm>
          <a:prstGeom prst="roundRect">
            <a:avLst>
              <a:gd name="adj" fmla="val 406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318879" y="2613287"/>
            <a:ext cx="2103120" cy="6503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validazione impedisce l’ingresso di dati incompleti o incoerenti nel database.</a:t>
            </a:r>
            <a:endParaRPr lang="en-US" sz="1220" dirty="0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903BDA69-BF5F-455C-5D99-D9C76A0DD3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85" b="24999"/>
          <a:stretch>
            <a:fillRect/>
          </a:stretch>
        </p:blipFill>
        <p:spPr>
          <a:xfrm>
            <a:off x="819912" y="4488673"/>
            <a:ext cx="10335768" cy="1611406"/>
          </a:xfrm>
          <a:prstGeom prst="rect">
            <a:avLst/>
          </a:prstGeom>
        </p:spPr>
      </p:pic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A31A1367-ACEC-C392-6219-8B7C6B29C5DC}"/>
              </a:ext>
            </a:extLst>
          </p:cNvPr>
          <p:cNvCxnSpPr>
            <a:cxnSpLocks/>
          </p:cNvCxnSpPr>
          <p:nvPr/>
        </p:nvCxnSpPr>
        <p:spPr>
          <a:xfrm>
            <a:off x="6583082" y="2522418"/>
            <a:ext cx="15324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16">
            <a:extLst>
              <a:ext uri="{FF2B5EF4-FFF2-40B4-BE49-F238E27FC236}">
                <a16:creationId xmlns:a16="http://schemas.microsoft.com/office/drawing/2014/main" id="{DBD97C4D-BB2E-8EA5-4F18-804A84E8CA75}"/>
              </a:ext>
            </a:extLst>
          </p:cNvPr>
          <p:cNvSpPr/>
          <p:nvPr/>
        </p:nvSpPr>
        <p:spPr>
          <a:xfrm>
            <a:off x="6822454" y="2624507"/>
            <a:ext cx="1053682" cy="2105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endParaRPr lang="en-US" sz="1060" dirty="0"/>
          </a:p>
          <a:p>
            <a:pPr marL="0" indent="0" algn="l">
              <a:buNone/>
            </a:pPr>
            <a:endParaRPr lang="en-US" sz="1060" dirty="0"/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3DEA0590-4CF5-CD8A-6ED9-996553DB01B3}"/>
              </a:ext>
            </a:extLst>
          </p:cNvPr>
          <p:cNvCxnSpPr>
            <a:cxnSpLocks/>
          </p:cNvCxnSpPr>
          <p:nvPr/>
        </p:nvCxnSpPr>
        <p:spPr>
          <a:xfrm flipH="1">
            <a:off x="6583082" y="2806898"/>
            <a:ext cx="15324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16">
            <a:extLst>
              <a:ext uri="{FF2B5EF4-FFF2-40B4-BE49-F238E27FC236}">
                <a16:creationId xmlns:a16="http://schemas.microsoft.com/office/drawing/2014/main" id="{D032FEA9-82FA-A402-8D0B-C127A71EFDA0}"/>
              </a:ext>
            </a:extLst>
          </p:cNvPr>
          <p:cNvSpPr/>
          <p:nvPr/>
        </p:nvSpPr>
        <p:spPr>
          <a:xfrm>
            <a:off x="6583081" y="3319333"/>
            <a:ext cx="1438447" cy="1617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/users con name </a:t>
            </a:r>
            <a:r>
              <a:rPr lang="en-US" sz="1060" dirty="0" err="1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mancante</a:t>
            </a:r>
            <a:endParaRPr lang="en-US" sz="1060" dirty="0"/>
          </a:p>
        </p:txBody>
      </p: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84B53CCF-78BE-82F6-2B07-AC641C6D405A}"/>
              </a:ext>
            </a:extLst>
          </p:cNvPr>
          <p:cNvCxnSpPr>
            <a:cxnSpLocks/>
          </p:cNvCxnSpPr>
          <p:nvPr/>
        </p:nvCxnSpPr>
        <p:spPr>
          <a:xfrm>
            <a:off x="6583081" y="3418870"/>
            <a:ext cx="15324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27D02D90-7F10-FA5B-AAC6-49B3E47A9D5A}"/>
              </a:ext>
            </a:extLst>
          </p:cNvPr>
          <p:cNvCxnSpPr>
            <a:cxnSpLocks/>
          </p:cNvCxnSpPr>
          <p:nvPr/>
        </p:nvCxnSpPr>
        <p:spPr>
          <a:xfrm flipH="1">
            <a:off x="6583081" y="3703350"/>
            <a:ext cx="15324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16">
            <a:extLst>
              <a:ext uri="{FF2B5EF4-FFF2-40B4-BE49-F238E27FC236}">
                <a16:creationId xmlns:a16="http://schemas.microsoft.com/office/drawing/2014/main" id="{53341D73-37D4-535B-D47A-6E2CC1F07276}"/>
              </a:ext>
            </a:extLst>
          </p:cNvPr>
          <p:cNvSpPr/>
          <p:nvPr/>
        </p:nvSpPr>
        <p:spPr>
          <a:xfrm>
            <a:off x="6769546" y="3600784"/>
            <a:ext cx="1297494" cy="1025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422 Unprocessable Entity</a:t>
            </a:r>
            <a:endParaRPr lang="en-US" sz="1060" dirty="0"/>
          </a:p>
        </p:txBody>
      </p: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BB6FDA80-D426-E369-F779-90C821D5661F}"/>
              </a:ext>
            </a:extLst>
          </p:cNvPr>
          <p:cNvCxnSpPr/>
          <p:nvPr/>
        </p:nvCxnSpPr>
        <p:spPr>
          <a:xfrm>
            <a:off x="6223000" y="3017520"/>
            <a:ext cx="2275840" cy="0"/>
          </a:xfrm>
          <a:prstGeom prst="line">
            <a:avLst/>
          </a:prstGeom>
          <a:ln w="19050" cap="flat" cmpd="sng" algn="ctr">
            <a:solidFill>
              <a:srgbClr val="EF444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gestione</a:t>
            </a: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429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13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automatici e CI/CD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2344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3F84EBD2-2AB9-C4BE-E973-12E854805C7E}"/>
              </a:ext>
            </a:extLst>
          </p:cNvPr>
          <p:cNvSpPr/>
          <p:nvPr/>
        </p:nvSpPr>
        <p:spPr>
          <a:xfrm>
            <a:off x="603504" y="1648967"/>
            <a:ext cx="4160520" cy="621792"/>
          </a:xfrm>
          <a:prstGeom prst="roundRect">
            <a:avLst>
              <a:gd name="adj" fmla="val 16176"/>
            </a:avLst>
          </a:prstGeom>
          <a:solidFill>
            <a:srgbClr val="F8FAFC"/>
          </a:solidFill>
          <a:ln w="13970">
            <a:solidFill>
              <a:srgbClr val="CF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B50618AC-D649-EE60-4594-9E545EC456DE}"/>
              </a:ext>
            </a:extLst>
          </p:cNvPr>
          <p:cNvSpPr/>
          <p:nvPr/>
        </p:nvSpPr>
        <p:spPr>
          <a:xfrm>
            <a:off x="841248" y="1868423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27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 -m pytest app/test.py -v</a:t>
            </a:r>
            <a:endParaRPr lang="en-US" sz="135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FAF88F6B-D387-A3E5-411C-7C1CB2DC30BC}"/>
              </a:ext>
            </a:extLst>
          </p:cNvPr>
          <p:cNvSpPr/>
          <p:nvPr/>
        </p:nvSpPr>
        <p:spPr>
          <a:xfrm>
            <a:off x="3886200" y="1813559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3B7BF6"/>
          </a:solidFill>
          <a:ln w="13970">
            <a:solidFill>
              <a:srgbClr val="3B7B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0A8D8539-7086-E818-C21F-B61B34528F34}"/>
              </a:ext>
            </a:extLst>
          </p:cNvPr>
          <p:cNvSpPr/>
          <p:nvPr/>
        </p:nvSpPr>
        <p:spPr>
          <a:xfrm>
            <a:off x="3886200" y="186385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05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37D2BFBB-A963-A981-6040-89833C69522E}"/>
              </a:ext>
            </a:extLst>
          </p:cNvPr>
          <p:cNvSpPr>
            <a:spLocks/>
          </p:cNvSpPr>
          <p:nvPr/>
        </p:nvSpPr>
        <p:spPr>
          <a:xfrm>
            <a:off x="603504" y="2572510"/>
            <a:ext cx="4160520" cy="2439927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397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91D8AAD1-868D-31F2-8765-F48988380408}"/>
              </a:ext>
            </a:extLst>
          </p:cNvPr>
          <p:cNvSpPr/>
          <p:nvPr/>
        </p:nvSpPr>
        <p:spPr>
          <a:xfrm>
            <a:off x="841248" y="2764535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viene verificato</a:t>
            </a:r>
            <a:endParaRPr lang="en-US" sz="1550" dirty="0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C717F137-A0A8-8D0B-3AC4-A7C7DA53A768}"/>
              </a:ext>
            </a:extLst>
          </p:cNvPr>
          <p:cNvSpPr/>
          <p:nvPr/>
        </p:nvSpPr>
        <p:spPr>
          <a:xfrm>
            <a:off x="850392" y="3166871"/>
            <a:ext cx="164592" cy="164592"/>
          </a:xfrm>
          <a:prstGeom prst="ellipse">
            <a:avLst/>
          </a:prstGeom>
          <a:solidFill>
            <a:srgbClr val="3B7BF6"/>
          </a:solidFill>
          <a:ln w="12700">
            <a:solidFill>
              <a:srgbClr val="3B7B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32F113F0-908B-2E81-8C71-21A84DF21824}"/>
              </a:ext>
            </a:extLst>
          </p:cNvPr>
          <p:cNvSpPr/>
          <p:nvPr/>
        </p:nvSpPr>
        <p:spPr>
          <a:xfrm>
            <a:off x="1115568" y="3130295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 pagine frontend</a:t>
            </a:r>
            <a:endParaRPr lang="en-US" sz="13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64DD023D-9801-2238-F2B0-3A3928BE59B6}"/>
              </a:ext>
            </a:extLst>
          </p:cNvPr>
          <p:cNvSpPr/>
          <p:nvPr/>
        </p:nvSpPr>
        <p:spPr>
          <a:xfrm>
            <a:off x="850392" y="3550919"/>
            <a:ext cx="164592" cy="164592"/>
          </a:xfrm>
          <a:prstGeom prst="ellipse">
            <a:avLst/>
          </a:prstGeom>
          <a:solidFill>
            <a:srgbClr val="F36E16"/>
          </a:solidFill>
          <a:ln w="12700">
            <a:solidFill>
              <a:srgbClr val="F36E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E50D850E-1931-C1E5-8C5E-DEC5F1AEC2F1}"/>
              </a:ext>
            </a:extLst>
          </p:cNvPr>
          <p:cNvSpPr/>
          <p:nvPr/>
        </p:nvSpPr>
        <p:spPr>
          <a:xfrm>
            <a:off x="1115568" y="3514343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validazione dei dati ed errori</a:t>
            </a:r>
            <a:endParaRPr lang="en-US" sz="1300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09E34B56-3585-987B-BCDC-24B65CE81A82}"/>
              </a:ext>
            </a:extLst>
          </p:cNvPr>
          <p:cNvSpPr/>
          <p:nvPr/>
        </p:nvSpPr>
        <p:spPr>
          <a:xfrm>
            <a:off x="850392" y="3934967"/>
            <a:ext cx="164592" cy="164592"/>
          </a:xfrm>
          <a:prstGeom prst="ellipse">
            <a:avLst/>
          </a:prstGeom>
          <a:solidFill>
            <a:srgbClr val="0A9991"/>
          </a:solidFill>
          <a:ln w="12700">
            <a:solidFill>
              <a:srgbClr val="0A999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4DE7FE13-5139-9BA3-C46C-E64E99DB8CA5}"/>
              </a:ext>
            </a:extLst>
          </p:cNvPr>
          <p:cNvSpPr/>
          <p:nvPr/>
        </p:nvSpPr>
        <p:spPr>
          <a:xfrm>
            <a:off x="1115568" y="3898391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SQLite e registrazioni collegate</a:t>
            </a:r>
            <a:endParaRPr lang="en-US" sz="130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B8214866-638C-E886-28DA-C61D1F09566C}"/>
              </a:ext>
            </a:extLst>
          </p:cNvPr>
          <p:cNvSpPr/>
          <p:nvPr/>
        </p:nvSpPr>
        <p:spPr>
          <a:xfrm>
            <a:off x="850392" y="4319015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85B2048D-565B-09CA-596E-E79D9047279F}"/>
              </a:ext>
            </a:extLst>
          </p:cNvPr>
          <p:cNvSpPr/>
          <p:nvPr/>
        </p:nvSpPr>
        <p:spPr>
          <a:xfrm>
            <a:off x="1115568" y="4282439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presenza delle docstring nelle route</a:t>
            </a:r>
            <a:endParaRPr lang="en-US" sz="130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49231C89-5567-C552-A11E-80F9F17DBFAB}"/>
              </a:ext>
            </a:extLst>
          </p:cNvPr>
          <p:cNvSpPr/>
          <p:nvPr/>
        </p:nvSpPr>
        <p:spPr>
          <a:xfrm>
            <a:off x="5166360" y="1648967"/>
            <a:ext cx="1737360" cy="93878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970">
            <a:solidFill>
              <a:srgbClr val="3B7B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4BC9BEB6-292F-58A2-24FB-DF2C7CDF29CE}"/>
              </a:ext>
            </a:extLst>
          </p:cNvPr>
          <p:cNvSpPr/>
          <p:nvPr/>
        </p:nvSpPr>
        <p:spPr>
          <a:xfrm>
            <a:off x="5367528" y="1831847"/>
            <a:ext cx="512064" cy="512064"/>
          </a:xfrm>
          <a:prstGeom prst="ellipse">
            <a:avLst/>
          </a:prstGeom>
          <a:solidFill>
            <a:srgbClr val="EAF1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53E8DA32-6883-881B-98C7-3DEABA29820B}"/>
              </a:ext>
            </a:extLst>
          </p:cNvPr>
          <p:cNvSpPr/>
          <p:nvPr/>
        </p:nvSpPr>
        <p:spPr>
          <a:xfrm>
            <a:off x="5367528" y="199085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7B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8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6E947019-20BB-74D4-E4DB-963A3C7811BB}"/>
              </a:ext>
            </a:extLst>
          </p:cNvPr>
          <p:cNvSpPr/>
          <p:nvPr/>
        </p:nvSpPr>
        <p:spPr>
          <a:xfrm>
            <a:off x="6007608" y="182879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1450" dirty="0"/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93C3CBA6-CF35-C0BF-9185-87D8B883437D}"/>
              </a:ext>
            </a:extLst>
          </p:cNvPr>
          <p:cNvSpPr/>
          <p:nvPr/>
        </p:nvSpPr>
        <p:spPr>
          <a:xfrm>
            <a:off x="6007608" y="212140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 inviata al repository</a:t>
            </a:r>
            <a:endParaRPr lang="en-US" sz="1050" dirty="0"/>
          </a:p>
        </p:txBody>
      </p:sp>
      <p:sp>
        <p:nvSpPr>
          <p:cNvPr id="57" name="Shape 26">
            <a:extLst>
              <a:ext uri="{FF2B5EF4-FFF2-40B4-BE49-F238E27FC236}">
                <a16:creationId xmlns:a16="http://schemas.microsoft.com/office/drawing/2014/main" id="{A74B3173-C3FF-5652-FB9C-A99BBA770033}"/>
              </a:ext>
            </a:extLst>
          </p:cNvPr>
          <p:cNvSpPr/>
          <p:nvPr/>
        </p:nvSpPr>
        <p:spPr>
          <a:xfrm>
            <a:off x="5166360" y="2960105"/>
            <a:ext cx="1737360" cy="935738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970">
            <a:solidFill>
              <a:srgbClr val="F36E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04304F40-E38D-7865-83A8-85D2BAA85AC1}"/>
              </a:ext>
            </a:extLst>
          </p:cNvPr>
          <p:cNvSpPr/>
          <p:nvPr/>
        </p:nvSpPr>
        <p:spPr>
          <a:xfrm>
            <a:off x="5367528" y="3142985"/>
            <a:ext cx="512064" cy="512064"/>
          </a:xfrm>
          <a:prstGeom prst="ellipse">
            <a:avLst/>
          </a:prstGeom>
          <a:solidFill>
            <a:srgbClr val="FFF2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347EE7EE-2259-0863-BE1B-432D2184940B}"/>
              </a:ext>
            </a:extLst>
          </p:cNvPr>
          <p:cNvSpPr/>
          <p:nvPr/>
        </p:nvSpPr>
        <p:spPr>
          <a:xfrm>
            <a:off x="5367528" y="330554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6E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1800" dirty="0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63B19BC4-3635-2F7B-BC0C-A3EC19E02994}"/>
              </a:ext>
            </a:extLst>
          </p:cNvPr>
          <p:cNvSpPr/>
          <p:nvPr/>
        </p:nvSpPr>
        <p:spPr>
          <a:xfrm>
            <a:off x="6007608" y="3142985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1450" dirty="0"/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BABC5365-F287-E503-43D0-5CA15B586B2E}"/>
              </a:ext>
            </a:extLst>
          </p:cNvPr>
          <p:cNvSpPr/>
          <p:nvPr/>
        </p:nvSpPr>
        <p:spPr>
          <a:xfrm>
            <a:off x="6007608" y="3435593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automatico</a:t>
            </a:r>
            <a:endParaRPr lang="en-US" sz="1050" dirty="0"/>
          </a:p>
        </p:txBody>
      </p:sp>
      <p:sp>
        <p:nvSpPr>
          <p:cNvPr id="67" name="Shape 31">
            <a:extLst>
              <a:ext uri="{FF2B5EF4-FFF2-40B4-BE49-F238E27FC236}">
                <a16:creationId xmlns:a16="http://schemas.microsoft.com/office/drawing/2014/main" id="{FA138382-B2C5-312D-EFAC-A6D039DBB016}"/>
              </a:ext>
            </a:extLst>
          </p:cNvPr>
          <p:cNvSpPr/>
          <p:nvPr/>
        </p:nvSpPr>
        <p:spPr>
          <a:xfrm>
            <a:off x="5166360" y="4247383"/>
            <a:ext cx="1737360" cy="76505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Shape 32">
            <a:extLst>
              <a:ext uri="{FF2B5EF4-FFF2-40B4-BE49-F238E27FC236}">
                <a16:creationId xmlns:a16="http://schemas.microsoft.com/office/drawing/2014/main" id="{F28C9B89-ED82-66D3-23ED-7B5408C25CA3}"/>
              </a:ext>
            </a:extLst>
          </p:cNvPr>
          <p:cNvSpPr/>
          <p:nvPr/>
        </p:nvSpPr>
        <p:spPr>
          <a:xfrm>
            <a:off x="5367528" y="4373372"/>
            <a:ext cx="512064" cy="512064"/>
          </a:xfrm>
          <a:prstGeom prst="ellipse">
            <a:avLst/>
          </a:prstGeom>
          <a:solidFill>
            <a:srgbClr val="EAF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33">
            <a:extLst>
              <a:ext uri="{FF2B5EF4-FFF2-40B4-BE49-F238E27FC236}">
                <a16:creationId xmlns:a16="http://schemas.microsoft.com/office/drawing/2014/main" id="{ED345B51-3E78-16A5-AC19-77B2DB4BD158}"/>
              </a:ext>
            </a:extLst>
          </p:cNvPr>
          <p:cNvSpPr/>
          <p:nvPr/>
        </p:nvSpPr>
        <p:spPr>
          <a:xfrm>
            <a:off x="5367528" y="4545075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B1B8CFBD-16D6-76FF-139E-3AC0DDA44360}"/>
              </a:ext>
            </a:extLst>
          </p:cNvPr>
          <p:cNvSpPr/>
          <p:nvPr/>
        </p:nvSpPr>
        <p:spPr>
          <a:xfrm>
            <a:off x="6007608" y="437337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Esito</a:t>
            </a:r>
            <a:endParaRPr lang="en-US" sz="1450" dirty="0"/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806794E0-36E0-0767-E4B0-0F55A7EFF4D5}"/>
              </a:ext>
            </a:extLst>
          </p:cNvPr>
          <p:cNvSpPr/>
          <p:nvPr/>
        </p:nvSpPr>
        <p:spPr>
          <a:xfrm>
            <a:off x="6007608" y="4665980"/>
            <a:ext cx="685800" cy="285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completati</a:t>
            </a:r>
            <a:endParaRPr lang="en-US" sz="1050" dirty="0"/>
          </a:p>
        </p:txBody>
      </p:sp>
      <p:sp>
        <p:nvSpPr>
          <p:cNvPr id="79" name="Shape 37">
            <a:extLst>
              <a:ext uri="{FF2B5EF4-FFF2-40B4-BE49-F238E27FC236}">
                <a16:creationId xmlns:a16="http://schemas.microsoft.com/office/drawing/2014/main" id="{8D9D4B51-7313-05FA-C564-7592F29283A6}"/>
              </a:ext>
            </a:extLst>
          </p:cNvPr>
          <p:cNvSpPr/>
          <p:nvPr/>
        </p:nvSpPr>
        <p:spPr>
          <a:xfrm>
            <a:off x="5907024" y="4009636"/>
            <a:ext cx="256032" cy="164592"/>
          </a:xfrm>
          <a:prstGeom prst="downArrow">
            <a:avLst/>
          </a:prstGeom>
          <a:solidFill>
            <a:srgbClr val="E4E6EA"/>
          </a:solidFill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Shape 38">
            <a:extLst>
              <a:ext uri="{FF2B5EF4-FFF2-40B4-BE49-F238E27FC236}">
                <a16:creationId xmlns:a16="http://schemas.microsoft.com/office/drawing/2014/main" id="{F3A4658F-8D45-54A7-178B-81B2051B0300}"/>
              </a:ext>
            </a:extLst>
          </p:cNvPr>
          <p:cNvSpPr/>
          <p:nvPr/>
        </p:nvSpPr>
        <p:spPr>
          <a:xfrm>
            <a:off x="7178040" y="1645919"/>
            <a:ext cx="4160520" cy="3366518"/>
          </a:xfrm>
          <a:prstGeom prst="roundRect">
            <a:avLst>
              <a:gd name="adj" fmla="val 3692"/>
            </a:avLst>
          </a:prstGeom>
          <a:solidFill>
            <a:srgbClr val="15181D"/>
          </a:solidFill>
          <a:ln w="1397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3" name="Shape 39">
            <a:extLst>
              <a:ext uri="{FF2B5EF4-FFF2-40B4-BE49-F238E27FC236}">
                <a16:creationId xmlns:a16="http://schemas.microsoft.com/office/drawing/2014/main" id="{8A11EC97-BE61-BC0A-D13B-588F398BDD2A}"/>
              </a:ext>
            </a:extLst>
          </p:cNvPr>
          <p:cNvSpPr/>
          <p:nvPr/>
        </p:nvSpPr>
        <p:spPr>
          <a:xfrm>
            <a:off x="7178040" y="1645920"/>
            <a:ext cx="4160520" cy="292608"/>
          </a:xfrm>
          <a:prstGeom prst="roundRect">
            <a:avLst>
              <a:gd name="adj" fmla="val 37500"/>
            </a:avLst>
          </a:prstGeom>
          <a:solidFill>
            <a:srgbClr val="1E2228"/>
          </a:solidFill>
          <a:ln w="12700">
            <a:solidFill>
              <a:srgbClr val="1E22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5" name="Shape 40">
            <a:extLst>
              <a:ext uri="{FF2B5EF4-FFF2-40B4-BE49-F238E27FC236}">
                <a16:creationId xmlns:a16="http://schemas.microsoft.com/office/drawing/2014/main" id="{61F7BD39-6350-191E-A23B-BDA14343E0A3}"/>
              </a:ext>
            </a:extLst>
          </p:cNvPr>
          <p:cNvSpPr/>
          <p:nvPr/>
        </p:nvSpPr>
        <p:spPr>
          <a:xfrm>
            <a:off x="7342632" y="1755648"/>
            <a:ext cx="54864" cy="5486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7" name="Shape 41">
            <a:extLst>
              <a:ext uri="{FF2B5EF4-FFF2-40B4-BE49-F238E27FC236}">
                <a16:creationId xmlns:a16="http://schemas.microsoft.com/office/drawing/2014/main" id="{44F7CE8B-BB75-2EC3-9E18-3EB0E7AF1B48}"/>
              </a:ext>
            </a:extLst>
          </p:cNvPr>
          <p:cNvSpPr/>
          <p:nvPr/>
        </p:nvSpPr>
        <p:spPr>
          <a:xfrm>
            <a:off x="7470648" y="1755648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9" name="Shape 42">
            <a:extLst>
              <a:ext uri="{FF2B5EF4-FFF2-40B4-BE49-F238E27FC236}">
                <a16:creationId xmlns:a16="http://schemas.microsoft.com/office/drawing/2014/main" id="{B4F6B96F-8E5F-30BE-B184-0B71E3A5B0D6}"/>
              </a:ext>
            </a:extLst>
          </p:cNvPr>
          <p:cNvSpPr/>
          <p:nvPr/>
        </p:nvSpPr>
        <p:spPr>
          <a:xfrm>
            <a:off x="7598664" y="1755648"/>
            <a:ext cx="54864" cy="5486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1" name="Text 43">
            <a:extLst>
              <a:ext uri="{FF2B5EF4-FFF2-40B4-BE49-F238E27FC236}">
                <a16:creationId xmlns:a16="http://schemas.microsoft.com/office/drawing/2014/main" id="{A0A4C771-F0FC-9CD0-163F-C94551E2418B}"/>
              </a:ext>
            </a:extLst>
          </p:cNvPr>
          <p:cNvSpPr/>
          <p:nvPr/>
        </p:nvSpPr>
        <p:spPr>
          <a:xfrm>
            <a:off x="7726680" y="172821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output</a:t>
            </a:r>
            <a:endParaRPr lang="en-US" sz="750" dirty="0"/>
          </a:p>
        </p:txBody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E9582CD3-B58B-8B99-1C02-243859C00089}"/>
              </a:ext>
            </a:extLst>
          </p:cNvPr>
          <p:cNvSpPr/>
          <p:nvPr/>
        </p:nvSpPr>
        <p:spPr>
          <a:xfrm>
            <a:off x="7360920" y="206654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D8DEE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test_database_is_used PASSED</a:t>
            </a:r>
            <a:endParaRPr lang="en-US" sz="870" dirty="0"/>
          </a:p>
        </p:txBody>
      </p:sp>
      <p:sp>
        <p:nvSpPr>
          <p:cNvPr id="95" name="Text 45">
            <a:extLst>
              <a:ext uri="{FF2B5EF4-FFF2-40B4-BE49-F238E27FC236}">
                <a16:creationId xmlns:a16="http://schemas.microsoft.com/office/drawing/2014/main" id="{6CA02979-DEB2-FF34-6DCB-7399670DA236}"/>
              </a:ext>
            </a:extLst>
          </p:cNvPr>
          <p:cNvSpPr/>
          <p:nvPr/>
        </p:nvSpPr>
        <p:spPr>
          <a:xfrm>
            <a:off x="9802368" y="206654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PASSED</a:t>
            </a:r>
            <a:endParaRPr lang="en-US" sz="870" dirty="0"/>
          </a:p>
        </p:txBody>
      </p:sp>
      <p:sp>
        <p:nvSpPr>
          <p:cNvPr id="97" name="Text 46">
            <a:extLst>
              <a:ext uri="{FF2B5EF4-FFF2-40B4-BE49-F238E27FC236}">
                <a16:creationId xmlns:a16="http://schemas.microsoft.com/office/drawing/2014/main" id="{2CF09B82-4EE5-040D-6199-EE2D578CA6EC}"/>
              </a:ext>
            </a:extLst>
          </p:cNvPr>
          <p:cNvSpPr/>
          <p:nvPr/>
        </p:nvSpPr>
        <p:spPr>
          <a:xfrm>
            <a:off x="7360920" y="224028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9AA4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test_get_events_list PASSED</a:t>
            </a:r>
            <a:endParaRPr lang="en-US" sz="870" dirty="0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2CCD870F-31D2-49EA-FB05-EB41347108FA}"/>
              </a:ext>
            </a:extLst>
          </p:cNvPr>
          <p:cNvSpPr/>
          <p:nvPr/>
        </p:nvSpPr>
        <p:spPr>
          <a:xfrm>
            <a:off x="9802368" y="224028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PASSED</a:t>
            </a:r>
            <a:endParaRPr lang="en-US" sz="870" dirty="0"/>
          </a:p>
        </p:txBody>
      </p:sp>
      <p:sp>
        <p:nvSpPr>
          <p:cNvPr id="101" name="Text 48">
            <a:extLst>
              <a:ext uri="{FF2B5EF4-FFF2-40B4-BE49-F238E27FC236}">
                <a16:creationId xmlns:a16="http://schemas.microsoft.com/office/drawing/2014/main" id="{6B1EDBD0-E41D-ED27-73FC-1062FB2B4C60}"/>
              </a:ext>
            </a:extLst>
          </p:cNvPr>
          <p:cNvSpPr/>
          <p:nvPr/>
        </p:nvSpPr>
        <p:spPr>
          <a:xfrm>
            <a:off x="7360920" y="24140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9AA4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test_create_event_valid PASSED</a:t>
            </a:r>
            <a:endParaRPr lang="en-US" sz="870" dirty="0"/>
          </a:p>
        </p:txBody>
      </p:sp>
      <p:sp>
        <p:nvSpPr>
          <p:cNvPr id="103" name="Text 49">
            <a:extLst>
              <a:ext uri="{FF2B5EF4-FFF2-40B4-BE49-F238E27FC236}">
                <a16:creationId xmlns:a16="http://schemas.microsoft.com/office/drawing/2014/main" id="{FCC4FA89-05F8-F6E2-6612-2A7BF8C3B1BD}"/>
              </a:ext>
            </a:extLst>
          </p:cNvPr>
          <p:cNvSpPr/>
          <p:nvPr/>
        </p:nvSpPr>
        <p:spPr>
          <a:xfrm>
            <a:off x="9802368" y="24140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PASSED</a:t>
            </a:r>
            <a:endParaRPr lang="en-US" sz="870" dirty="0"/>
          </a:p>
        </p:txBody>
      </p:sp>
      <p:sp>
        <p:nvSpPr>
          <p:cNvPr id="105" name="Text 50">
            <a:extLst>
              <a:ext uri="{FF2B5EF4-FFF2-40B4-BE49-F238E27FC236}">
                <a16:creationId xmlns:a16="http://schemas.microsoft.com/office/drawing/2014/main" id="{8E469A1D-CC19-1EC5-7914-FB643178AB42}"/>
              </a:ext>
            </a:extLst>
          </p:cNvPr>
          <p:cNvSpPr/>
          <p:nvPr/>
        </p:nvSpPr>
        <p:spPr>
          <a:xfrm>
            <a:off x="7360920" y="25877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D8DEE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test_event_invalid_date PASSED</a:t>
            </a:r>
            <a:endParaRPr lang="en-US" sz="870" dirty="0"/>
          </a:p>
        </p:txBody>
      </p:sp>
      <p:sp>
        <p:nvSpPr>
          <p:cNvPr id="107" name="Text 51">
            <a:extLst>
              <a:ext uri="{FF2B5EF4-FFF2-40B4-BE49-F238E27FC236}">
                <a16:creationId xmlns:a16="http://schemas.microsoft.com/office/drawing/2014/main" id="{24FA2A1A-DDF5-6EC9-DD61-3267F1E9A8BA}"/>
              </a:ext>
            </a:extLst>
          </p:cNvPr>
          <p:cNvSpPr/>
          <p:nvPr/>
        </p:nvSpPr>
        <p:spPr>
          <a:xfrm>
            <a:off x="9802368" y="25877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PASSED</a:t>
            </a:r>
            <a:endParaRPr lang="en-US" sz="870" dirty="0"/>
          </a:p>
        </p:txBody>
      </p:sp>
      <p:sp>
        <p:nvSpPr>
          <p:cNvPr id="109" name="Text 52">
            <a:extLst>
              <a:ext uri="{FF2B5EF4-FFF2-40B4-BE49-F238E27FC236}">
                <a16:creationId xmlns:a16="http://schemas.microsoft.com/office/drawing/2014/main" id="{1AC07EBF-FABB-FF6D-E234-1BECA949CA5A}"/>
              </a:ext>
            </a:extLst>
          </p:cNvPr>
          <p:cNvSpPr/>
          <p:nvPr/>
        </p:nvSpPr>
        <p:spPr>
          <a:xfrm>
            <a:off x="7360920" y="276148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9AA4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test_event_not_found PASSED</a:t>
            </a:r>
            <a:endParaRPr lang="en-US" sz="870" dirty="0"/>
          </a:p>
        </p:txBody>
      </p:sp>
      <p:sp>
        <p:nvSpPr>
          <p:cNvPr id="111" name="Text 53">
            <a:extLst>
              <a:ext uri="{FF2B5EF4-FFF2-40B4-BE49-F238E27FC236}">
                <a16:creationId xmlns:a16="http://schemas.microsoft.com/office/drawing/2014/main" id="{5620679C-1F63-2FF2-C9D9-96C48B3636EF}"/>
              </a:ext>
            </a:extLst>
          </p:cNvPr>
          <p:cNvSpPr/>
          <p:nvPr/>
        </p:nvSpPr>
        <p:spPr>
          <a:xfrm>
            <a:off x="9802368" y="2761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PASSED</a:t>
            </a:r>
            <a:endParaRPr lang="en-US" sz="870" dirty="0"/>
          </a:p>
        </p:txBody>
      </p:sp>
      <p:sp>
        <p:nvSpPr>
          <p:cNvPr id="113" name="Text 54">
            <a:extLst>
              <a:ext uri="{FF2B5EF4-FFF2-40B4-BE49-F238E27FC236}">
                <a16:creationId xmlns:a16="http://schemas.microsoft.com/office/drawing/2014/main" id="{EA8EC871-DBFC-62C2-8912-55E0A81C1DD3}"/>
              </a:ext>
            </a:extLst>
          </p:cNvPr>
          <p:cNvSpPr/>
          <p:nvPr/>
        </p:nvSpPr>
        <p:spPr>
          <a:xfrm>
            <a:off x="7360920" y="293522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9AA4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test_register_user_valid PASSED</a:t>
            </a:r>
            <a:endParaRPr lang="en-US" sz="870" dirty="0"/>
          </a:p>
        </p:txBody>
      </p:sp>
      <p:sp>
        <p:nvSpPr>
          <p:cNvPr id="115" name="Text 55">
            <a:extLst>
              <a:ext uri="{FF2B5EF4-FFF2-40B4-BE49-F238E27FC236}">
                <a16:creationId xmlns:a16="http://schemas.microsoft.com/office/drawing/2014/main" id="{F889DC85-F392-193D-1423-8CDA1DD84987}"/>
              </a:ext>
            </a:extLst>
          </p:cNvPr>
          <p:cNvSpPr/>
          <p:nvPr/>
        </p:nvSpPr>
        <p:spPr>
          <a:xfrm>
            <a:off x="9802368" y="293522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PASSED</a:t>
            </a:r>
            <a:endParaRPr lang="en-US" sz="870" dirty="0"/>
          </a:p>
        </p:txBody>
      </p:sp>
      <p:sp>
        <p:nvSpPr>
          <p:cNvPr id="117" name="Text 56">
            <a:extLst>
              <a:ext uri="{FF2B5EF4-FFF2-40B4-BE49-F238E27FC236}">
                <a16:creationId xmlns:a16="http://schemas.microsoft.com/office/drawing/2014/main" id="{71B883F2-3AAC-EB7D-AE05-ADB941D55655}"/>
              </a:ext>
            </a:extLst>
          </p:cNvPr>
          <p:cNvSpPr/>
          <p:nvPr/>
        </p:nvSpPr>
        <p:spPr>
          <a:xfrm>
            <a:off x="7360920" y="310896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D8DEE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test_register_duplicate PASSED</a:t>
            </a:r>
            <a:endParaRPr lang="en-US" sz="870" dirty="0"/>
          </a:p>
        </p:txBody>
      </p:sp>
      <p:sp>
        <p:nvSpPr>
          <p:cNvPr id="119" name="Text 57">
            <a:extLst>
              <a:ext uri="{FF2B5EF4-FFF2-40B4-BE49-F238E27FC236}">
                <a16:creationId xmlns:a16="http://schemas.microsoft.com/office/drawing/2014/main" id="{6DC31D89-376C-599F-AC95-E9B7CB0801D8}"/>
              </a:ext>
            </a:extLst>
          </p:cNvPr>
          <p:cNvSpPr/>
          <p:nvPr/>
        </p:nvSpPr>
        <p:spPr>
          <a:xfrm>
            <a:off x="9802368" y="3108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PASSED</a:t>
            </a:r>
            <a:endParaRPr lang="en-US" sz="870" dirty="0"/>
          </a:p>
        </p:txBody>
      </p:sp>
      <p:sp>
        <p:nvSpPr>
          <p:cNvPr id="121" name="Text 58">
            <a:extLst>
              <a:ext uri="{FF2B5EF4-FFF2-40B4-BE49-F238E27FC236}">
                <a16:creationId xmlns:a16="http://schemas.microsoft.com/office/drawing/2014/main" id="{56D99923-3F87-0EBE-DEB0-AA5572D2B931}"/>
              </a:ext>
            </a:extLst>
          </p:cNvPr>
          <p:cNvSpPr/>
          <p:nvPr/>
        </p:nvSpPr>
        <p:spPr>
          <a:xfrm>
            <a:off x="7360920" y="328269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9AA4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test_delete_event_and_registrations PASSED</a:t>
            </a:r>
            <a:endParaRPr lang="en-US" sz="870" dirty="0"/>
          </a:p>
        </p:txBody>
      </p:sp>
      <p:sp>
        <p:nvSpPr>
          <p:cNvPr id="123" name="Text 59">
            <a:extLst>
              <a:ext uri="{FF2B5EF4-FFF2-40B4-BE49-F238E27FC236}">
                <a16:creationId xmlns:a16="http://schemas.microsoft.com/office/drawing/2014/main" id="{FF618133-D9E7-EA8B-E4BA-64B7D94DC150}"/>
              </a:ext>
            </a:extLst>
          </p:cNvPr>
          <p:cNvSpPr/>
          <p:nvPr/>
        </p:nvSpPr>
        <p:spPr>
          <a:xfrm>
            <a:off x="9802368" y="328269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PASSED</a:t>
            </a:r>
            <a:endParaRPr lang="en-US" sz="870" dirty="0"/>
          </a:p>
        </p:txBody>
      </p:sp>
      <p:sp>
        <p:nvSpPr>
          <p:cNvPr id="125" name="Text 60">
            <a:extLst>
              <a:ext uri="{FF2B5EF4-FFF2-40B4-BE49-F238E27FC236}">
                <a16:creationId xmlns:a16="http://schemas.microsoft.com/office/drawing/2014/main" id="{7C668EF6-8426-1FED-C3DF-D1778F7FEF29}"/>
              </a:ext>
            </a:extLst>
          </p:cNvPr>
          <p:cNvSpPr/>
          <p:nvPr/>
        </p:nvSpPr>
        <p:spPr>
          <a:xfrm>
            <a:off x="7360920" y="345643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9AA4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test_users_list PASSED</a:t>
            </a:r>
            <a:endParaRPr lang="en-US" sz="870" dirty="0"/>
          </a:p>
        </p:txBody>
      </p:sp>
      <p:sp>
        <p:nvSpPr>
          <p:cNvPr id="127" name="Text 61">
            <a:extLst>
              <a:ext uri="{FF2B5EF4-FFF2-40B4-BE49-F238E27FC236}">
                <a16:creationId xmlns:a16="http://schemas.microsoft.com/office/drawing/2014/main" id="{0F670540-2C36-6DE5-ED34-2498CD91598E}"/>
              </a:ext>
            </a:extLst>
          </p:cNvPr>
          <p:cNvSpPr/>
          <p:nvPr/>
        </p:nvSpPr>
        <p:spPr>
          <a:xfrm>
            <a:off x="9802368" y="34564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PASSED</a:t>
            </a:r>
            <a:endParaRPr lang="en-US" sz="870" dirty="0"/>
          </a:p>
        </p:txBody>
      </p:sp>
      <p:sp>
        <p:nvSpPr>
          <p:cNvPr id="129" name="Text 62">
            <a:extLst>
              <a:ext uri="{FF2B5EF4-FFF2-40B4-BE49-F238E27FC236}">
                <a16:creationId xmlns:a16="http://schemas.microsoft.com/office/drawing/2014/main" id="{EDE4EF46-8E3E-99D9-206C-BA41AA85C78E}"/>
              </a:ext>
            </a:extLst>
          </p:cNvPr>
          <p:cNvSpPr/>
          <p:nvPr/>
        </p:nvSpPr>
        <p:spPr>
          <a:xfrm>
            <a:off x="7360920" y="363016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D8DEE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test_delete_user PASSED</a:t>
            </a:r>
            <a:endParaRPr lang="en-US" sz="870" dirty="0"/>
          </a:p>
        </p:txBody>
      </p:sp>
      <p:sp>
        <p:nvSpPr>
          <p:cNvPr id="131" name="Text 63">
            <a:extLst>
              <a:ext uri="{FF2B5EF4-FFF2-40B4-BE49-F238E27FC236}">
                <a16:creationId xmlns:a16="http://schemas.microsoft.com/office/drawing/2014/main" id="{272A11FE-FC76-05CF-E815-4BC1E45A84F6}"/>
              </a:ext>
            </a:extLst>
          </p:cNvPr>
          <p:cNvSpPr/>
          <p:nvPr/>
        </p:nvSpPr>
        <p:spPr>
          <a:xfrm>
            <a:off x="9802368" y="36301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PASSED</a:t>
            </a:r>
            <a:endParaRPr lang="en-US" sz="870" dirty="0"/>
          </a:p>
        </p:txBody>
      </p:sp>
      <p:sp>
        <p:nvSpPr>
          <p:cNvPr id="133" name="Text 64">
            <a:extLst>
              <a:ext uri="{FF2B5EF4-FFF2-40B4-BE49-F238E27FC236}">
                <a16:creationId xmlns:a16="http://schemas.microsoft.com/office/drawing/2014/main" id="{869342E5-A6AE-62B9-55B4-981219C31CCA}"/>
              </a:ext>
            </a:extLst>
          </p:cNvPr>
          <p:cNvSpPr/>
          <p:nvPr/>
        </p:nvSpPr>
        <p:spPr>
          <a:xfrm>
            <a:off x="7360920" y="380390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9AA4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test_docstrings_routes PASSED</a:t>
            </a:r>
            <a:endParaRPr lang="en-US" sz="870" dirty="0"/>
          </a:p>
        </p:txBody>
      </p:sp>
      <p:sp>
        <p:nvSpPr>
          <p:cNvPr id="135" name="Text 65">
            <a:extLst>
              <a:ext uri="{FF2B5EF4-FFF2-40B4-BE49-F238E27FC236}">
                <a16:creationId xmlns:a16="http://schemas.microsoft.com/office/drawing/2014/main" id="{ADCEB51A-7EC7-CBAF-73EC-C0266B52198B}"/>
              </a:ext>
            </a:extLst>
          </p:cNvPr>
          <p:cNvSpPr/>
          <p:nvPr/>
        </p:nvSpPr>
        <p:spPr>
          <a:xfrm>
            <a:off x="9802368" y="380390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PASSED</a:t>
            </a:r>
            <a:endParaRPr lang="en-US" sz="870" dirty="0"/>
          </a:p>
        </p:txBody>
      </p:sp>
      <p:sp>
        <p:nvSpPr>
          <p:cNvPr id="137" name="Text 66">
            <a:extLst>
              <a:ext uri="{FF2B5EF4-FFF2-40B4-BE49-F238E27FC236}">
                <a16:creationId xmlns:a16="http://schemas.microsoft.com/office/drawing/2014/main" id="{28ED46F3-CB20-AB8E-7BE9-DCF4C8E5F15F}"/>
              </a:ext>
            </a:extLst>
          </p:cNvPr>
          <p:cNvSpPr/>
          <p:nvPr/>
        </p:nvSpPr>
        <p:spPr>
          <a:xfrm>
            <a:off x="7360920" y="397764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 passed in 2.31s</a:t>
            </a:r>
            <a:endParaRPr lang="en-US" sz="870" dirty="0"/>
          </a:p>
        </p:txBody>
      </p:sp>
      <p:sp>
        <p:nvSpPr>
          <p:cNvPr id="145" name="Shape 70">
            <a:extLst>
              <a:ext uri="{FF2B5EF4-FFF2-40B4-BE49-F238E27FC236}">
                <a16:creationId xmlns:a16="http://schemas.microsoft.com/office/drawing/2014/main" id="{62724829-C811-A0B1-C22E-C6988BA57327}"/>
              </a:ext>
            </a:extLst>
          </p:cNvPr>
          <p:cNvSpPr/>
          <p:nvPr/>
        </p:nvSpPr>
        <p:spPr>
          <a:xfrm>
            <a:off x="2368296" y="5342798"/>
            <a:ext cx="6272784" cy="420624"/>
          </a:xfrm>
          <a:prstGeom prst="roundRect">
            <a:avLst>
              <a:gd name="adj" fmla="val 23913"/>
            </a:avLst>
          </a:prstGeom>
          <a:solidFill>
            <a:srgbClr val="FFF7ED"/>
          </a:solidFill>
          <a:ln w="13970">
            <a:solidFill>
              <a:srgbClr val="F36E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7" name="Text 71">
            <a:extLst>
              <a:ext uri="{FF2B5EF4-FFF2-40B4-BE49-F238E27FC236}">
                <a16:creationId xmlns:a16="http://schemas.microsoft.com/office/drawing/2014/main" id="{000406A6-BC28-4679-D089-593CE7FF171A}"/>
              </a:ext>
            </a:extLst>
          </p:cNvPr>
          <p:cNvSpPr/>
          <p:nvPr/>
        </p:nvSpPr>
        <p:spPr>
          <a:xfrm>
            <a:off x="2587752" y="5501293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36E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Risultato</a:t>
            </a:r>
            <a:endParaRPr lang="en-US" sz="1050" dirty="0"/>
          </a:p>
        </p:txBody>
      </p:sp>
      <p:sp>
        <p:nvSpPr>
          <p:cNvPr id="149" name="Text 72">
            <a:extLst>
              <a:ext uri="{FF2B5EF4-FFF2-40B4-BE49-F238E27FC236}">
                <a16:creationId xmlns:a16="http://schemas.microsoft.com/office/drawing/2014/main" id="{067CB511-487B-64DB-2CB1-A2A3A1155758}"/>
              </a:ext>
            </a:extLst>
          </p:cNvPr>
          <p:cNvSpPr/>
          <p:nvPr/>
        </p:nvSpPr>
        <p:spPr>
          <a:xfrm>
            <a:off x="3273552" y="5473861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A27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modifiche vengono controllate automaticamente e gli errori vengono intercettati prima della consegna.</a:t>
            </a:r>
            <a:endParaRPr lang="en-US" sz="1150" dirty="0"/>
          </a:p>
        </p:txBody>
      </p:sp>
      <p:sp>
        <p:nvSpPr>
          <p:cNvPr id="153" name="Shape 37">
            <a:extLst>
              <a:ext uri="{FF2B5EF4-FFF2-40B4-BE49-F238E27FC236}">
                <a16:creationId xmlns:a16="http://schemas.microsoft.com/office/drawing/2014/main" id="{8B0D1355-2D4E-1D6B-81A6-C4FEDCE3D435}"/>
              </a:ext>
            </a:extLst>
          </p:cNvPr>
          <p:cNvSpPr/>
          <p:nvPr/>
        </p:nvSpPr>
        <p:spPr>
          <a:xfrm>
            <a:off x="5907024" y="2668516"/>
            <a:ext cx="256032" cy="164592"/>
          </a:xfrm>
          <a:prstGeom prst="downArrow">
            <a:avLst/>
          </a:prstGeom>
          <a:solidFill>
            <a:srgbClr val="E4E6EA"/>
          </a:solidFill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gestione</a:t>
            </a: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850" b="1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429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13232"/>
            <a:ext cx="4146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di dimostrazione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2344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035040" y="1591056"/>
            <a:ext cx="4754880" cy="3108960"/>
          </a:xfrm>
          <a:prstGeom prst="roundRect">
            <a:avLst>
              <a:gd name="adj" fmla="val 3824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6144768" y="1700784"/>
            <a:ext cx="4535424" cy="292608"/>
          </a:xfrm>
          <a:prstGeom prst="roundRect">
            <a:avLst>
              <a:gd name="adj" fmla="val 37500"/>
            </a:avLst>
          </a:prstGeom>
          <a:solidFill>
            <a:srgbClr val="F1F5F9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1" name="Shape 29"/>
          <p:cNvSpPr/>
          <p:nvPr/>
        </p:nvSpPr>
        <p:spPr>
          <a:xfrm>
            <a:off x="6263640" y="179222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6400800" y="179222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6537960" y="179222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0" descr="/mnt/data/pptmedia/image1.png"/>
          <p:cNvPicPr>
            <a:picLocks noChangeAspect="1"/>
          </p:cNvPicPr>
          <p:nvPr/>
        </p:nvPicPr>
        <p:blipFill>
          <a:blip r:embed="rId3"/>
          <a:srcRect l="792" r="792"/>
          <a:stretch/>
        </p:blipFill>
        <p:spPr>
          <a:xfrm>
            <a:off x="6144768" y="2112264"/>
            <a:ext cx="4535424" cy="246888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6035040" y="4837176"/>
            <a:ext cx="4754880" cy="539496"/>
          </a:xfrm>
          <a:prstGeom prst="roundRect">
            <a:avLst>
              <a:gd name="adj" fmla="val 16667"/>
            </a:avLst>
          </a:prstGeom>
          <a:solidFill>
            <a:srgbClr val="DDF7F3"/>
          </a:solidFill>
          <a:ln w="12700">
            <a:solidFill>
              <a:srgbClr val="13B8A6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6355080" y="5029200"/>
            <a:ext cx="4114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demo mostra il ciclo completo: dati inseriti → dati salvati → dati verificati.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2910744" y="5601879"/>
            <a:ext cx="5247037" cy="649629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DED8CE"/>
            </a:solidFill>
            <a:prstDash val="solid"/>
          </a:ln>
          <a:effectLst>
            <a:outerShdw blurRad="15240" dist="50800" dir="2700000" algn="bl" rotWithShape="0">
              <a:srgbClr val="7A869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3104388" y="5836064"/>
            <a:ext cx="4788504" cy="2728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chiave: l’eliminazione dell’evento rimuove anche la </a:t>
            </a:r>
            <a:r>
              <a:rPr lang="en-US" sz="1120" b="1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registrazione</a:t>
            </a:r>
            <a:r>
              <a:rPr lang="en-US" sz="11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20" b="1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collegata</a:t>
            </a:r>
            <a:endParaRPr lang="en-US" sz="1120" dirty="0"/>
          </a:p>
        </p:txBody>
      </p:sp>
      <p:sp>
        <p:nvSpPr>
          <p:cNvPr id="39" name="Rounded Rectangle 8"/>
          <p:cNvSpPr/>
          <p:nvPr/>
        </p:nvSpPr>
        <p:spPr>
          <a:xfrm>
            <a:off x="621792" y="1572768"/>
            <a:ext cx="5303520" cy="38216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9"/>
          <p:cNvSpPr txBox="1"/>
          <p:nvPr/>
        </p:nvSpPr>
        <p:spPr>
          <a:xfrm>
            <a:off x="896112" y="175753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1E2A44"/>
                </a:solidFill>
              </a:rPr>
              <a:t>Flusso</a:t>
            </a:r>
            <a:r>
              <a:rPr sz="1600" b="1" dirty="0">
                <a:solidFill>
                  <a:srgbClr val="1E2A44"/>
                </a:solidFill>
              </a:rPr>
              <a:t> della demo</a:t>
            </a:r>
          </a:p>
        </p:txBody>
      </p:sp>
      <p:cxnSp>
        <p:nvCxnSpPr>
          <p:cNvPr id="41" name="Connector 10"/>
          <p:cNvCxnSpPr/>
          <p:nvPr/>
        </p:nvCxnSpPr>
        <p:spPr>
          <a:xfrm>
            <a:off x="969264" y="2468300"/>
            <a:ext cx="0" cy="2386584"/>
          </a:xfrm>
          <a:prstGeom prst="line">
            <a:avLst/>
          </a:prstGeom>
          <a:ln w="19050">
            <a:solidFill>
              <a:srgbClr val="DD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11"/>
          <p:cNvSpPr/>
          <p:nvPr/>
        </p:nvSpPr>
        <p:spPr>
          <a:xfrm>
            <a:off x="822960" y="2321996"/>
            <a:ext cx="310896" cy="310896"/>
          </a:xfrm>
          <a:prstGeom prst="ellipse">
            <a:avLst/>
          </a:prstGeom>
          <a:solidFill>
            <a:srgbClr val="1CB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2"/>
          <p:cNvSpPr txBox="1"/>
          <p:nvPr/>
        </p:nvSpPr>
        <p:spPr>
          <a:xfrm>
            <a:off x="822960" y="2342316"/>
            <a:ext cx="31089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4" name="TextBox 13"/>
          <p:cNvSpPr txBox="1"/>
          <p:nvPr/>
        </p:nvSpPr>
        <p:spPr>
          <a:xfrm>
            <a:off x="1243584" y="2340284"/>
            <a:ext cx="1828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E2A44"/>
                </a:solidFill>
              </a:rPr>
              <a:t>Crea evento</a:t>
            </a:r>
          </a:p>
        </p:txBody>
      </p:sp>
      <p:sp>
        <p:nvSpPr>
          <p:cNvPr id="45" name="TextBox 14"/>
          <p:cNvSpPr txBox="1"/>
          <p:nvPr/>
        </p:nvSpPr>
        <p:spPr>
          <a:xfrm>
            <a:off x="3072384" y="2321996"/>
            <a:ext cx="21488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dirty="0" err="1">
                <a:solidFill>
                  <a:srgbClr val="606B82"/>
                </a:solidFill>
              </a:rPr>
              <a:t>inserimento</a:t>
            </a:r>
            <a:r>
              <a:rPr sz="1150" dirty="0">
                <a:solidFill>
                  <a:srgbClr val="606B82"/>
                </a:solidFill>
              </a:rPr>
              <a:t> </a:t>
            </a:r>
            <a:r>
              <a:rPr sz="1150" dirty="0" err="1">
                <a:solidFill>
                  <a:srgbClr val="606B82"/>
                </a:solidFill>
              </a:rPr>
              <a:t>dei</a:t>
            </a:r>
            <a:r>
              <a:rPr sz="1150" dirty="0">
                <a:solidFill>
                  <a:srgbClr val="606B82"/>
                </a:solidFill>
              </a:rPr>
              <a:t> </a:t>
            </a:r>
            <a:r>
              <a:rPr sz="1150" dirty="0" err="1">
                <a:solidFill>
                  <a:srgbClr val="606B82"/>
                </a:solidFill>
              </a:rPr>
              <a:t>dati</a:t>
            </a:r>
            <a:r>
              <a:rPr sz="1150" dirty="0">
                <a:solidFill>
                  <a:srgbClr val="606B82"/>
                </a:solidFill>
              </a:rPr>
              <a:t> e </a:t>
            </a:r>
            <a:r>
              <a:rPr sz="1150" dirty="0" err="1">
                <a:solidFill>
                  <a:srgbClr val="606B82"/>
                </a:solidFill>
              </a:rPr>
              <a:t>salvataggio</a:t>
            </a:r>
            <a:endParaRPr sz="1150" dirty="0">
              <a:solidFill>
                <a:srgbClr val="606B82"/>
              </a:solidFill>
            </a:endParaRPr>
          </a:p>
        </p:txBody>
      </p:sp>
      <p:sp>
        <p:nvSpPr>
          <p:cNvPr id="46" name="Oval 15"/>
          <p:cNvSpPr/>
          <p:nvPr/>
        </p:nvSpPr>
        <p:spPr>
          <a:xfrm>
            <a:off x="822960" y="2824916"/>
            <a:ext cx="310896" cy="310896"/>
          </a:xfrm>
          <a:prstGeom prst="ellipse">
            <a:avLst/>
          </a:prstGeom>
          <a:solidFill>
            <a:srgbClr val="3B7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16"/>
          <p:cNvSpPr txBox="1"/>
          <p:nvPr/>
        </p:nvSpPr>
        <p:spPr>
          <a:xfrm>
            <a:off x="822960" y="2845235"/>
            <a:ext cx="31089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TextBox 17"/>
          <p:cNvSpPr txBox="1"/>
          <p:nvPr/>
        </p:nvSpPr>
        <p:spPr>
          <a:xfrm>
            <a:off x="1243584" y="2843204"/>
            <a:ext cx="1828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E2A44"/>
                </a:solidFill>
              </a:rPr>
              <a:t>Registra utente</a:t>
            </a:r>
          </a:p>
        </p:txBody>
      </p:sp>
      <p:sp>
        <p:nvSpPr>
          <p:cNvPr id="49" name="TextBox 18"/>
          <p:cNvSpPr txBox="1"/>
          <p:nvPr/>
        </p:nvSpPr>
        <p:spPr>
          <a:xfrm>
            <a:off x="3072384" y="2830431"/>
            <a:ext cx="21488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dirty="0" err="1">
                <a:solidFill>
                  <a:srgbClr val="606B82"/>
                </a:solidFill>
              </a:rPr>
              <a:t>creazione</a:t>
            </a:r>
            <a:r>
              <a:rPr sz="1150" dirty="0">
                <a:solidFill>
                  <a:srgbClr val="606B82"/>
                </a:solidFill>
              </a:rPr>
              <a:t> del nuovo account</a:t>
            </a:r>
          </a:p>
        </p:txBody>
      </p:sp>
      <p:sp>
        <p:nvSpPr>
          <p:cNvPr id="50" name="Oval 19"/>
          <p:cNvSpPr/>
          <p:nvPr/>
        </p:nvSpPr>
        <p:spPr>
          <a:xfrm>
            <a:off x="822960" y="3327836"/>
            <a:ext cx="310896" cy="310896"/>
          </a:xfrm>
          <a:prstGeom prst="ellipse">
            <a:avLst/>
          </a:prstGeom>
          <a:solidFill>
            <a:srgbClr val="F26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20"/>
          <p:cNvSpPr txBox="1"/>
          <p:nvPr/>
        </p:nvSpPr>
        <p:spPr>
          <a:xfrm>
            <a:off x="822960" y="3348156"/>
            <a:ext cx="31089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2" name="TextBox 21"/>
          <p:cNvSpPr txBox="1"/>
          <p:nvPr/>
        </p:nvSpPr>
        <p:spPr>
          <a:xfrm>
            <a:off x="1243584" y="3346124"/>
            <a:ext cx="1828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E2A44"/>
                </a:solidFill>
              </a:rPr>
              <a:t>Visualizza iscrizione</a:t>
            </a:r>
          </a:p>
        </p:txBody>
      </p:sp>
      <p:sp>
        <p:nvSpPr>
          <p:cNvPr id="53" name="TextBox 22"/>
          <p:cNvSpPr txBox="1"/>
          <p:nvPr/>
        </p:nvSpPr>
        <p:spPr>
          <a:xfrm>
            <a:off x="3072384" y="3327836"/>
            <a:ext cx="21488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dirty="0" err="1">
                <a:solidFill>
                  <a:srgbClr val="606B82"/>
                </a:solidFill>
              </a:rPr>
              <a:t>verifica</a:t>
            </a:r>
            <a:r>
              <a:rPr sz="1150" dirty="0">
                <a:solidFill>
                  <a:srgbClr val="606B82"/>
                </a:solidFill>
              </a:rPr>
              <a:t> del </a:t>
            </a:r>
            <a:r>
              <a:rPr sz="1150" dirty="0" err="1">
                <a:solidFill>
                  <a:srgbClr val="606B82"/>
                </a:solidFill>
              </a:rPr>
              <a:t>collegamento</a:t>
            </a:r>
            <a:r>
              <a:rPr sz="1150" dirty="0">
                <a:solidFill>
                  <a:srgbClr val="606B82"/>
                </a:solidFill>
              </a:rPr>
              <a:t> </a:t>
            </a:r>
            <a:r>
              <a:rPr sz="1150" dirty="0" err="1">
                <a:solidFill>
                  <a:srgbClr val="606B82"/>
                </a:solidFill>
              </a:rPr>
              <a:t>utente-evento</a:t>
            </a:r>
            <a:endParaRPr sz="1150" dirty="0">
              <a:solidFill>
                <a:srgbClr val="606B82"/>
              </a:solidFill>
            </a:endParaRPr>
          </a:p>
        </p:txBody>
      </p:sp>
      <p:sp>
        <p:nvSpPr>
          <p:cNvPr id="54" name="Oval 23"/>
          <p:cNvSpPr/>
          <p:nvPr/>
        </p:nvSpPr>
        <p:spPr>
          <a:xfrm>
            <a:off x="822960" y="3830756"/>
            <a:ext cx="310896" cy="310896"/>
          </a:xfrm>
          <a:prstGeom prst="ellipse">
            <a:avLst/>
          </a:prstGeom>
          <a:solidFill>
            <a:srgbClr val="1CB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24"/>
          <p:cNvSpPr txBox="1"/>
          <p:nvPr/>
        </p:nvSpPr>
        <p:spPr>
          <a:xfrm>
            <a:off x="822960" y="3851076"/>
            <a:ext cx="31089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6" name="TextBox 25"/>
          <p:cNvSpPr txBox="1"/>
          <p:nvPr/>
        </p:nvSpPr>
        <p:spPr>
          <a:xfrm>
            <a:off x="1243584" y="3849044"/>
            <a:ext cx="1828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E2A44"/>
                </a:solidFill>
              </a:rPr>
              <a:t>Elimina evento</a:t>
            </a:r>
          </a:p>
        </p:txBody>
      </p:sp>
      <p:sp>
        <p:nvSpPr>
          <p:cNvPr id="57" name="TextBox 26"/>
          <p:cNvSpPr txBox="1"/>
          <p:nvPr/>
        </p:nvSpPr>
        <p:spPr>
          <a:xfrm>
            <a:off x="3072384" y="3849044"/>
            <a:ext cx="21488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dirty="0" err="1">
                <a:solidFill>
                  <a:srgbClr val="606B82"/>
                </a:solidFill>
              </a:rPr>
              <a:t>rimozione</a:t>
            </a:r>
            <a:r>
              <a:rPr sz="1150" dirty="0">
                <a:solidFill>
                  <a:srgbClr val="606B82"/>
                </a:solidFill>
              </a:rPr>
              <a:t> </a:t>
            </a:r>
            <a:r>
              <a:rPr sz="1150" dirty="0" err="1">
                <a:solidFill>
                  <a:srgbClr val="606B82"/>
                </a:solidFill>
              </a:rPr>
              <a:t>dell'evento</a:t>
            </a:r>
            <a:r>
              <a:rPr sz="1150" dirty="0">
                <a:solidFill>
                  <a:srgbClr val="606B82"/>
                </a:solidFill>
              </a:rPr>
              <a:t> </a:t>
            </a:r>
            <a:r>
              <a:rPr sz="1150" dirty="0" err="1">
                <a:solidFill>
                  <a:srgbClr val="606B82"/>
                </a:solidFill>
              </a:rPr>
              <a:t>selezionato</a:t>
            </a:r>
            <a:endParaRPr sz="1150" dirty="0">
              <a:solidFill>
                <a:srgbClr val="606B82"/>
              </a:solidFill>
            </a:endParaRPr>
          </a:p>
        </p:txBody>
      </p:sp>
      <p:sp>
        <p:nvSpPr>
          <p:cNvPr id="58" name="Oval 27"/>
          <p:cNvSpPr/>
          <p:nvPr/>
        </p:nvSpPr>
        <p:spPr>
          <a:xfrm>
            <a:off x="822960" y="4333676"/>
            <a:ext cx="310896" cy="3108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28"/>
          <p:cNvSpPr txBox="1"/>
          <p:nvPr/>
        </p:nvSpPr>
        <p:spPr>
          <a:xfrm>
            <a:off x="822960" y="4353996"/>
            <a:ext cx="31089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0" name="TextBox 29"/>
          <p:cNvSpPr txBox="1"/>
          <p:nvPr/>
        </p:nvSpPr>
        <p:spPr>
          <a:xfrm>
            <a:off x="1243584" y="4351964"/>
            <a:ext cx="1828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dirty="0" err="1">
                <a:solidFill>
                  <a:srgbClr val="1E2A44"/>
                </a:solidFill>
              </a:rPr>
              <a:t>Controlla</a:t>
            </a:r>
            <a:r>
              <a:rPr sz="1350" b="1" dirty="0">
                <a:solidFill>
                  <a:srgbClr val="1E2A44"/>
                </a:solidFill>
              </a:rPr>
              <a:t> </a:t>
            </a:r>
            <a:r>
              <a:rPr sz="1350" b="1" dirty="0" err="1">
                <a:solidFill>
                  <a:srgbClr val="1E2A44"/>
                </a:solidFill>
              </a:rPr>
              <a:t>pulizia</a:t>
            </a:r>
            <a:endParaRPr sz="1350" b="1" dirty="0">
              <a:solidFill>
                <a:srgbClr val="1E2A44"/>
              </a:solidFill>
            </a:endParaRPr>
          </a:p>
        </p:txBody>
      </p:sp>
      <p:sp>
        <p:nvSpPr>
          <p:cNvPr id="61" name="TextBox 30"/>
          <p:cNvSpPr txBox="1"/>
          <p:nvPr/>
        </p:nvSpPr>
        <p:spPr>
          <a:xfrm>
            <a:off x="3072384" y="4351964"/>
            <a:ext cx="21488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06B82"/>
                </a:solidFill>
              </a:rPr>
              <a:t>verifica eliminazione registrazioni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_presentazione_PRWEB_2026">
            <a:hlinkClick r:id="" action="ppaction://media"/>
            <a:extLst>
              <a:ext uri="{FF2B5EF4-FFF2-40B4-BE49-F238E27FC236}">
                <a16:creationId xmlns:a16="http://schemas.microsoft.com/office/drawing/2014/main" id="{189399A9-CA20-7003-609C-F77985AD753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66046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7BD5F551-B277-B73D-6BC3-1ABFDA8F89C9}"/>
              </a:ext>
            </a:extLst>
          </p:cNvPr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906777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74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109728"/>
          </a:xfrm>
          <a:prstGeom prst="roundRect">
            <a:avLst>
              <a:gd name="adj" fmla="val 50000"/>
            </a:avLst>
          </a:prstGeom>
          <a:solidFill>
            <a:srgbClr val="DDF7F3"/>
          </a:solidFill>
          <a:ln w="12700">
            <a:solidFill>
              <a:srgbClr val="DDF7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320040" cy="109728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 w="12700">
            <a:solidFill>
              <a:srgbClr val="FFEE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</a:p>
        </p:txBody>
      </p:sp>
      <p:sp>
        <p:nvSpPr>
          <p:cNvPr id="7" name="Text 5"/>
          <p:cNvSpPr/>
          <p:nvPr/>
        </p:nvSpPr>
        <p:spPr>
          <a:xfrm>
            <a:off x="621792" y="429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COMPLETO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13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Risultato finale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2344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6794F2FE-9B17-CB7A-60A6-7FC6DAB0A647}"/>
              </a:ext>
            </a:extLst>
          </p:cNvPr>
          <p:cNvSpPr/>
          <p:nvPr/>
        </p:nvSpPr>
        <p:spPr>
          <a:xfrm>
            <a:off x="815695" y="1874520"/>
            <a:ext cx="2157984" cy="1481328"/>
          </a:xfrm>
          <a:prstGeom prst="roundRect">
            <a:avLst>
              <a:gd name="adj" fmla="val 8025"/>
            </a:avLst>
          </a:prstGeom>
          <a:solidFill>
            <a:srgbClr val="E9FAF7"/>
          </a:solidFill>
          <a:ln w="12700">
            <a:solidFill>
              <a:srgbClr val="00746F"/>
            </a:solidFill>
            <a:prstDash val="solid"/>
          </a:ln>
          <a:effectLst>
            <a:outerShdw blurRad="25400" dist="50800" dir="2700000" algn="bl" rotWithShape="0">
              <a:srgbClr val="B5BEC8">
                <a:alpha val="1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7A0B61D9-80E5-A490-12ED-1F98CAACF322}"/>
              </a:ext>
            </a:extLst>
          </p:cNvPr>
          <p:cNvSpPr/>
          <p:nvPr/>
        </p:nvSpPr>
        <p:spPr>
          <a:xfrm>
            <a:off x="1574647" y="2075688"/>
            <a:ext cx="640080" cy="64008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746F">
                <a:alpha val="85000"/>
              </a:srgbClr>
            </a:solidFill>
            <a:prstDash val="solid"/>
          </a:ln>
          <a:effectLst>
            <a:outerShdw blurRad="17780" dist="50800" dir="2700000" algn="bl" rotWithShape="0">
              <a:srgbClr val="B5BEC8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A8A1C619-0283-A7BC-A34C-A10B8F9E7395}"/>
              </a:ext>
            </a:extLst>
          </p:cNvPr>
          <p:cNvSpPr/>
          <p:nvPr/>
        </p:nvSpPr>
        <p:spPr>
          <a:xfrm>
            <a:off x="1592935" y="2174748"/>
            <a:ext cx="60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&lt;/&gt;</a:t>
            </a:r>
            <a:endParaRPr lang="en-US" sz="21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A37C83A0-3971-DA77-29CD-6052A3FD5136}"/>
              </a:ext>
            </a:extLst>
          </p:cNvPr>
          <p:cNvSpPr/>
          <p:nvPr/>
        </p:nvSpPr>
        <p:spPr>
          <a:xfrm>
            <a:off x="952855" y="283464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completo</a:t>
            </a:r>
            <a:endParaRPr lang="en-US" sz="1450" dirty="0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7A79C4E4-B7F4-3EE9-4A19-0D8127A2DC14}"/>
              </a:ext>
            </a:extLst>
          </p:cNvPr>
          <p:cNvSpPr/>
          <p:nvPr/>
        </p:nvSpPr>
        <p:spPr>
          <a:xfrm>
            <a:off x="1254607" y="3218688"/>
            <a:ext cx="1280160" cy="0"/>
          </a:xfrm>
          <a:prstGeom prst="line">
            <a:avLst/>
          </a:prstGeom>
          <a:noFill/>
          <a:ln w="8890">
            <a:solidFill>
              <a:srgbClr val="0074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4F8B2059-6D8F-9FDA-6504-A97729D3D91F}"/>
              </a:ext>
            </a:extLst>
          </p:cNvPr>
          <p:cNvSpPr/>
          <p:nvPr/>
        </p:nvSpPr>
        <p:spPr>
          <a:xfrm>
            <a:off x="998575" y="339242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2D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+ backend + database</a:t>
            </a:r>
            <a:endParaRPr lang="en-US" sz="88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1CF699C3-B251-395E-A121-DF9C5F564116}"/>
              </a:ext>
            </a:extLst>
          </p:cNvPr>
          <p:cNvSpPr/>
          <p:nvPr/>
        </p:nvSpPr>
        <p:spPr>
          <a:xfrm>
            <a:off x="3083407" y="25237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9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EF052B2B-60BC-2FD6-2AAC-98433C9BFFA3}"/>
              </a:ext>
            </a:extLst>
          </p:cNvPr>
          <p:cNvSpPr/>
          <p:nvPr/>
        </p:nvSpPr>
        <p:spPr>
          <a:xfrm>
            <a:off x="3586327" y="1874520"/>
            <a:ext cx="2157984" cy="1481328"/>
          </a:xfrm>
          <a:prstGeom prst="roundRect">
            <a:avLst>
              <a:gd name="adj" fmla="val 8025"/>
            </a:avLst>
          </a:prstGeom>
          <a:solidFill>
            <a:srgbClr val="EFF5FF"/>
          </a:solidFill>
          <a:ln w="12700">
            <a:solidFill>
              <a:srgbClr val="2F6DFF"/>
            </a:solidFill>
            <a:prstDash val="solid"/>
          </a:ln>
          <a:effectLst>
            <a:outerShdw blurRad="25400" dist="50800" dir="2700000" algn="bl" rotWithShape="0">
              <a:srgbClr val="B5BEC8">
                <a:alpha val="1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0" name="Shape 13">
            <a:extLst>
              <a:ext uri="{FF2B5EF4-FFF2-40B4-BE49-F238E27FC236}">
                <a16:creationId xmlns:a16="http://schemas.microsoft.com/office/drawing/2014/main" id="{FF849E67-0971-E6B4-D9D1-F02A57F61539}"/>
              </a:ext>
            </a:extLst>
          </p:cNvPr>
          <p:cNvSpPr/>
          <p:nvPr/>
        </p:nvSpPr>
        <p:spPr>
          <a:xfrm>
            <a:off x="4345279" y="2075688"/>
            <a:ext cx="640080" cy="64008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6DFF">
                <a:alpha val="85000"/>
              </a:srgbClr>
            </a:solidFill>
            <a:prstDash val="solid"/>
          </a:ln>
          <a:effectLst>
            <a:outerShdw blurRad="17780" dist="50800" dir="2700000" algn="bl" rotWithShape="0">
              <a:srgbClr val="B5BEC8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BEC2F94E-BDB7-97EA-C934-8C86BEE54E0F}"/>
              </a:ext>
            </a:extLst>
          </p:cNvPr>
          <p:cNvSpPr/>
          <p:nvPr/>
        </p:nvSpPr>
        <p:spPr>
          <a:xfrm>
            <a:off x="4363567" y="2151888"/>
            <a:ext cx="60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2100" dirty="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3822E3D1-C1F7-8181-2792-E3CC4E800E7C}"/>
              </a:ext>
            </a:extLst>
          </p:cNvPr>
          <p:cNvSpPr/>
          <p:nvPr/>
        </p:nvSpPr>
        <p:spPr>
          <a:xfrm>
            <a:off x="3723487" y="283464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6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REST</a:t>
            </a:r>
            <a:endParaRPr lang="en-US" sz="1450" dirty="0"/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44A4B657-67FF-985F-BE4C-824C4CEC24DE}"/>
              </a:ext>
            </a:extLst>
          </p:cNvPr>
          <p:cNvSpPr/>
          <p:nvPr/>
        </p:nvSpPr>
        <p:spPr>
          <a:xfrm>
            <a:off x="4025239" y="3218688"/>
            <a:ext cx="1280160" cy="0"/>
          </a:xfrm>
          <a:prstGeom prst="line">
            <a:avLst/>
          </a:prstGeom>
          <a:noFill/>
          <a:ln w="8890">
            <a:solidFill>
              <a:srgbClr val="2F6D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66AAD3DA-D55C-413B-3586-2E188A532B5F}"/>
              </a:ext>
            </a:extLst>
          </p:cNvPr>
          <p:cNvSpPr/>
          <p:nvPr/>
        </p:nvSpPr>
        <p:spPr>
          <a:xfrm>
            <a:off x="3769207" y="339242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2D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· POST · PUT · DELETE</a:t>
            </a:r>
            <a:endParaRPr lang="en-US" sz="88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937B2F4A-4918-F1FD-A819-6728163941BA}"/>
              </a:ext>
            </a:extLst>
          </p:cNvPr>
          <p:cNvSpPr/>
          <p:nvPr/>
        </p:nvSpPr>
        <p:spPr>
          <a:xfrm>
            <a:off x="5854039" y="25237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9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62" name="Shape 19">
            <a:extLst>
              <a:ext uri="{FF2B5EF4-FFF2-40B4-BE49-F238E27FC236}">
                <a16:creationId xmlns:a16="http://schemas.microsoft.com/office/drawing/2014/main" id="{AC11809E-A0F9-4E1C-256F-65E73F29CDCF}"/>
              </a:ext>
            </a:extLst>
          </p:cNvPr>
          <p:cNvSpPr/>
          <p:nvPr/>
        </p:nvSpPr>
        <p:spPr>
          <a:xfrm>
            <a:off x="6356959" y="1874520"/>
            <a:ext cx="2157984" cy="1481328"/>
          </a:xfrm>
          <a:prstGeom prst="roundRect">
            <a:avLst>
              <a:gd name="adj" fmla="val 8025"/>
            </a:avLst>
          </a:prstGeom>
          <a:solidFill>
            <a:srgbClr val="FFF4EC"/>
          </a:solidFill>
          <a:ln w="12700">
            <a:solidFill>
              <a:srgbClr val="FF7A2F"/>
            </a:solidFill>
            <a:prstDash val="solid"/>
          </a:ln>
          <a:effectLst>
            <a:outerShdw blurRad="25400" dist="50800" dir="2700000" algn="bl" rotWithShape="0">
              <a:srgbClr val="B5BEC8">
                <a:alpha val="1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C2B4ED0C-44FF-7734-0898-038923811D56}"/>
              </a:ext>
            </a:extLst>
          </p:cNvPr>
          <p:cNvSpPr/>
          <p:nvPr/>
        </p:nvSpPr>
        <p:spPr>
          <a:xfrm>
            <a:off x="7115911" y="2075688"/>
            <a:ext cx="640080" cy="64008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FF7A2F">
                <a:alpha val="85000"/>
              </a:srgbClr>
            </a:solidFill>
            <a:prstDash val="solid"/>
          </a:ln>
          <a:effectLst>
            <a:outerShdw blurRad="17780" dist="50800" dir="2700000" algn="bl" rotWithShape="0">
              <a:srgbClr val="B5BEC8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3F01692F-E51E-0E72-86A6-11BB6009DEF1}"/>
              </a:ext>
            </a:extLst>
          </p:cNvPr>
          <p:cNvSpPr/>
          <p:nvPr/>
        </p:nvSpPr>
        <p:spPr>
          <a:xfrm>
            <a:off x="7134199" y="2174748"/>
            <a:ext cx="60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7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2100" dirty="0"/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C835CEF4-5EC0-1072-9812-8318BE7E61FA}"/>
              </a:ext>
            </a:extLst>
          </p:cNvPr>
          <p:cNvSpPr/>
          <p:nvPr/>
        </p:nvSpPr>
        <p:spPr>
          <a:xfrm>
            <a:off x="6494119" y="283464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7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 persistenti</a:t>
            </a:r>
            <a:endParaRPr lang="en-US" sz="1450" dirty="0"/>
          </a:p>
        </p:txBody>
      </p:sp>
      <p:sp>
        <p:nvSpPr>
          <p:cNvPr id="70" name="Shape 23">
            <a:extLst>
              <a:ext uri="{FF2B5EF4-FFF2-40B4-BE49-F238E27FC236}">
                <a16:creationId xmlns:a16="http://schemas.microsoft.com/office/drawing/2014/main" id="{EF4C52F5-5A69-681C-E3B1-C4B4E4959C3E}"/>
              </a:ext>
            </a:extLst>
          </p:cNvPr>
          <p:cNvSpPr/>
          <p:nvPr/>
        </p:nvSpPr>
        <p:spPr>
          <a:xfrm>
            <a:off x="6795871" y="3218688"/>
            <a:ext cx="1280160" cy="0"/>
          </a:xfrm>
          <a:prstGeom prst="line">
            <a:avLst/>
          </a:prstGeom>
          <a:noFill/>
          <a:ln w="8890">
            <a:solidFill>
              <a:srgbClr val="FF7A2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24">
            <a:extLst>
              <a:ext uri="{FF2B5EF4-FFF2-40B4-BE49-F238E27FC236}">
                <a16:creationId xmlns:a16="http://schemas.microsoft.com/office/drawing/2014/main" id="{6517095C-DD96-923E-27B2-6A5C109501CA}"/>
              </a:ext>
            </a:extLst>
          </p:cNvPr>
          <p:cNvSpPr/>
          <p:nvPr/>
        </p:nvSpPr>
        <p:spPr>
          <a:xfrm>
            <a:off x="6539839" y="339242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2D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gestito con SQLModel</a:t>
            </a:r>
            <a:endParaRPr lang="en-US" sz="880" dirty="0"/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D444B76E-0AFA-64DE-EF67-1AE5CD54EAE5}"/>
              </a:ext>
            </a:extLst>
          </p:cNvPr>
          <p:cNvSpPr/>
          <p:nvPr/>
        </p:nvSpPr>
        <p:spPr>
          <a:xfrm>
            <a:off x="8624671" y="25237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9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76" name="Shape 26">
            <a:extLst>
              <a:ext uri="{FF2B5EF4-FFF2-40B4-BE49-F238E27FC236}">
                <a16:creationId xmlns:a16="http://schemas.microsoft.com/office/drawing/2014/main" id="{3695EDF6-A972-8857-9FE2-937D747147E9}"/>
              </a:ext>
            </a:extLst>
          </p:cNvPr>
          <p:cNvSpPr/>
          <p:nvPr/>
        </p:nvSpPr>
        <p:spPr>
          <a:xfrm>
            <a:off x="9127591" y="1874520"/>
            <a:ext cx="2157984" cy="1481328"/>
          </a:xfrm>
          <a:prstGeom prst="roundRect">
            <a:avLst>
              <a:gd name="adj" fmla="val 8025"/>
            </a:avLst>
          </a:prstGeom>
          <a:solidFill>
            <a:srgbClr val="EFFAF1"/>
          </a:solidFill>
          <a:ln w="12700">
            <a:solidFill>
              <a:srgbClr val="07822F"/>
            </a:solidFill>
            <a:prstDash val="solid"/>
          </a:ln>
          <a:effectLst>
            <a:outerShdw blurRad="25400" dist="50800" dir="2700000" algn="bl" rotWithShape="0">
              <a:srgbClr val="B5BEC8">
                <a:alpha val="1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8" name="Shape 27">
            <a:extLst>
              <a:ext uri="{FF2B5EF4-FFF2-40B4-BE49-F238E27FC236}">
                <a16:creationId xmlns:a16="http://schemas.microsoft.com/office/drawing/2014/main" id="{CCE9C2D2-45A6-DB43-0132-1DF9A70985F1}"/>
              </a:ext>
            </a:extLst>
          </p:cNvPr>
          <p:cNvSpPr/>
          <p:nvPr/>
        </p:nvSpPr>
        <p:spPr>
          <a:xfrm>
            <a:off x="9886543" y="2075688"/>
            <a:ext cx="640080" cy="64008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7822F">
                <a:alpha val="85000"/>
              </a:srgbClr>
            </a:solidFill>
            <a:prstDash val="solid"/>
          </a:ln>
          <a:effectLst>
            <a:outerShdw blurRad="17780" dist="50800" dir="2700000" algn="bl" rotWithShape="0">
              <a:srgbClr val="B5BEC8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0" name="Text 28">
            <a:extLst>
              <a:ext uri="{FF2B5EF4-FFF2-40B4-BE49-F238E27FC236}">
                <a16:creationId xmlns:a16="http://schemas.microsoft.com/office/drawing/2014/main" id="{786247FA-A481-08F7-E594-81EF1D225435}"/>
              </a:ext>
            </a:extLst>
          </p:cNvPr>
          <p:cNvSpPr/>
          <p:nvPr/>
        </p:nvSpPr>
        <p:spPr>
          <a:xfrm>
            <a:off x="9904831" y="2174748"/>
            <a:ext cx="60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82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100" dirty="0"/>
          </a:p>
        </p:txBody>
      </p:sp>
      <p:sp>
        <p:nvSpPr>
          <p:cNvPr id="84" name="Text 30">
            <a:extLst>
              <a:ext uri="{FF2B5EF4-FFF2-40B4-BE49-F238E27FC236}">
                <a16:creationId xmlns:a16="http://schemas.microsoft.com/office/drawing/2014/main" id="{0478415D-CA4E-9ED4-909C-5B977BCC09E1}"/>
              </a:ext>
            </a:extLst>
          </p:cNvPr>
          <p:cNvSpPr/>
          <p:nvPr/>
        </p:nvSpPr>
        <p:spPr>
          <a:xfrm>
            <a:off x="9292183" y="28788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82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automatica</a:t>
            </a:r>
            <a:endParaRPr lang="en-US" sz="1350" dirty="0"/>
          </a:p>
        </p:txBody>
      </p:sp>
      <p:sp>
        <p:nvSpPr>
          <p:cNvPr id="86" name="Shape 31">
            <a:extLst>
              <a:ext uri="{FF2B5EF4-FFF2-40B4-BE49-F238E27FC236}">
                <a16:creationId xmlns:a16="http://schemas.microsoft.com/office/drawing/2014/main" id="{4EA415B6-5B48-1C0A-FDF3-36F9457EA18A}"/>
              </a:ext>
            </a:extLst>
          </p:cNvPr>
          <p:cNvSpPr/>
          <p:nvPr/>
        </p:nvSpPr>
        <p:spPr>
          <a:xfrm>
            <a:off x="9630511" y="3218688"/>
            <a:ext cx="1152144" cy="0"/>
          </a:xfrm>
          <a:prstGeom prst="line">
            <a:avLst/>
          </a:prstGeom>
          <a:noFill/>
          <a:ln w="8890">
            <a:solidFill>
              <a:srgbClr val="07822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8" name="Text 32">
            <a:extLst>
              <a:ext uri="{FF2B5EF4-FFF2-40B4-BE49-F238E27FC236}">
                <a16:creationId xmlns:a16="http://schemas.microsoft.com/office/drawing/2014/main" id="{08371D0A-B839-44FC-BB82-5195AF02188E}"/>
              </a:ext>
            </a:extLst>
          </p:cNvPr>
          <p:cNvSpPr/>
          <p:nvPr/>
        </p:nvSpPr>
        <p:spPr>
          <a:xfrm>
            <a:off x="9310471" y="341071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2D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test superati in CI/CD</a:t>
            </a:r>
            <a:endParaRPr lang="en-US" sz="880" dirty="0"/>
          </a:p>
        </p:txBody>
      </p:sp>
      <p:sp>
        <p:nvSpPr>
          <p:cNvPr id="90" name="Shape 33">
            <a:extLst>
              <a:ext uri="{FF2B5EF4-FFF2-40B4-BE49-F238E27FC236}">
                <a16:creationId xmlns:a16="http://schemas.microsoft.com/office/drawing/2014/main" id="{39FD9E3B-AC2D-AE71-FA86-DB4678FFF0A7}"/>
              </a:ext>
            </a:extLst>
          </p:cNvPr>
          <p:cNvSpPr/>
          <p:nvPr/>
        </p:nvSpPr>
        <p:spPr>
          <a:xfrm>
            <a:off x="1958695" y="3886200"/>
            <a:ext cx="8183880" cy="1298448"/>
          </a:xfrm>
          <a:prstGeom prst="roundRect">
            <a:avLst>
              <a:gd name="adj" fmla="val 10563"/>
            </a:avLst>
          </a:prstGeom>
          <a:solidFill>
            <a:srgbClr val="FFFFFF"/>
          </a:solidFill>
          <a:ln w="12700">
            <a:solidFill>
              <a:srgbClr val="9AD9D1"/>
            </a:solidFill>
            <a:prstDash val="solid"/>
          </a:ln>
          <a:effectLst>
            <a:outerShdw blurRad="25400" dist="50800" dir="2700000" algn="bl" rotWithShape="0">
              <a:srgbClr val="B5BEC8">
                <a:alpha val="1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2" name="Shape 34">
            <a:extLst>
              <a:ext uri="{FF2B5EF4-FFF2-40B4-BE49-F238E27FC236}">
                <a16:creationId xmlns:a16="http://schemas.microsoft.com/office/drawing/2014/main" id="{4FC287F4-E7FB-1BA5-E3B0-0EC2D275856A}"/>
              </a:ext>
            </a:extLst>
          </p:cNvPr>
          <p:cNvSpPr/>
          <p:nvPr/>
        </p:nvSpPr>
        <p:spPr>
          <a:xfrm>
            <a:off x="2434183" y="4187952"/>
            <a:ext cx="704088" cy="70408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EF4F2"/>
            </a:solidFill>
            <a:prstDash val="solid"/>
          </a:ln>
          <a:effectLst>
            <a:outerShdw blurRad="15240" dist="50800" dir="2700000" algn="bl" rotWithShape="0">
              <a:srgbClr val="BAC4CE">
                <a:alpha val="1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4" name="Text 35">
            <a:extLst>
              <a:ext uri="{FF2B5EF4-FFF2-40B4-BE49-F238E27FC236}">
                <a16:creationId xmlns:a16="http://schemas.microsoft.com/office/drawing/2014/main" id="{08FEE82F-6954-85A5-473F-E8E52F4F6B53}"/>
              </a:ext>
            </a:extLst>
          </p:cNvPr>
          <p:cNvSpPr/>
          <p:nvPr/>
        </p:nvSpPr>
        <p:spPr>
          <a:xfrm>
            <a:off x="2507335" y="43479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🎓</a:t>
            </a:r>
            <a:endParaRPr lang="en-US" sz="2200" dirty="0"/>
          </a:p>
        </p:txBody>
      </p:sp>
      <p:sp>
        <p:nvSpPr>
          <p:cNvPr id="96" name="Shape 36">
            <a:extLst>
              <a:ext uri="{FF2B5EF4-FFF2-40B4-BE49-F238E27FC236}">
                <a16:creationId xmlns:a16="http://schemas.microsoft.com/office/drawing/2014/main" id="{2B114BDD-483C-34DD-939F-FF9E15C95CE1}"/>
              </a:ext>
            </a:extLst>
          </p:cNvPr>
          <p:cNvSpPr/>
          <p:nvPr/>
        </p:nvSpPr>
        <p:spPr>
          <a:xfrm>
            <a:off x="3650335" y="4133088"/>
            <a:ext cx="0" cy="804672"/>
          </a:xfrm>
          <a:prstGeom prst="line">
            <a:avLst/>
          </a:prstGeom>
          <a:noFill/>
          <a:ln w="12700">
            <a:solidFill>
              <a:srgbClr val="CED6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8" name="Text 37">
            <a:extLst>
              <a:ext uri="{FF2B5EF4-FFF2-40B4-BE49-F238E27FC236}">
                <a16:creationId xmlns:a16="http://schemas.microsoft.com/office/drawing/2014/main" id="{F72EFD43-4BC7-B70C-D8BC-8B916A862230}"/>
              </a:ext>
            </a:extLst>
          </p:cNvPr>
          <p:cNvSpPr/>
          <p:nvPr/>
        </p:nvSpPr>
        <p:spPr>
          <a:xfrm>
            <a:off x="4317847" y="415137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Grazie per l’attenzione</a:t>
            </a:r>
            <a:endParaRPr lang="en-US" sz="2950" dirty="0"/>
          </a:p>
        </p:txBody>
      </p:sp>
      <p:sp>
        <p:nvSpPr>
          <p:cNvPr id="100" name="Shape 38">
            <a:extLst>
              <a:ext uri="{FF2B5EF4-FFF2-40B4-BE49-F238E27FC236}">
                <a16:creationId xmlns:a16="http://schemas.microsoft.com/office/drawing/2014/main" id="{3783FAF4-737D-181E-60D5-B4F6E42AB97D}"/>
              </a:ext>
            </a:extLst>
          </p:cNvPr>
          <p:cNvSpPr/>
          <p:nvPr/>
        </p:nvSpPr>
        <p:spPr>
          <a:xfrm>
            <a:off x="6219799" y="4681728"/>
            <a:ext cx="621792" cy="32004"/>
          </a:xfrm>
          <a:prstGeom prst="roundRect">
            <a:avLst>
              <a:gd name="adj" fmla="val 57143"/>
            </a:avLst>
          </a:prstGeom>
          <a:solidFill>
            <a:srgbClr val="10B9A8"/>
          </a:solidFill>
          <a:ln w="12700">
            <a:solidFill>
              <a:srgbClr val="10B9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2" name="Text 39">
            <a:extLst>
              <a:ext uri="{FF2B5EF4-FFF2-40B4-BE49-F238E27FC236}">
                <a16:creationId xmlns:a16="http://schemas.microsoft.com/office/drawing/2014/main" id="{BB6A7FEE-5081-FFEB-3452-D8A9FE75EE3D}"/>
              </a:ext>
            </a:extLst>
          </p:cNvPr>
          <p:cNvSpPr/>
          <p:nvPr/>
        </p:nvSpPr>
        <p:spPr>
          <a:xfrm>
            <a:off x="4390999" y="482803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0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Xinmin Giuseppe Farano · x.farano@studenti.unica.it</a:t>
            </a:r>
            <a:endParaRPr lang="en-US" sz="1070" dirty="0"/>
          </a:p>
        </p:txBody>
      </p:sp>
      <p:sp>
        <p:nvSpPr>
          <p:cNvPr id="104" name="Text 40">
            <a:extLst>
              <a:ext uri="{FF2B5EF4-FFF2-40B4-BE49-F238E27FC236}">
                <a16:creationId xmlns:a16="http://schemas.microsoft.com/office/drawing/2014/main" id="{6BD91AFA-37AB-AA54-EC5D-688C65AB659B}"/>
              </a:ext>
            </a:extLst>
          </p:cNvPr>
          <p:cNvSpPr/>
          <p:nvPr/>
        </p:nvSpPr>
        <p:spPr>
          <a:xfrm>
            <a:off x="4482439" y="5577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106" name="Text 41">
            <a:extLst>
              <a:ext uri="{FF2B5EF4-FFF2-40B4-BE49-F238E27FC236}">
                <a16:creationId xmlns:a16="http://schemas.microsoft.com/office/drawing/2014/main" id="{01E7DD6B-2397-C348-9953-9D86BBA45CD6}"/>
              </a:ext>
            </a:extLst>
          </p:cNvPr>
          <p:cNvSpPr/>
          <p:nvPr/>
        </p:nvSpPr>
        <p:spPr>
          <a:xfrm>
            <a:off x="4775047" y="554126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b="1" dirty="0">
                <a:solidFill>
                  <a:srgbClr val="0B6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github.com/X1mn1n/project_2026</a:t>
            </a:r>
            <a:endParaRPr lang="en-US" sz="121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997</Words>
  <Application>Microsoft Office PowerPoint</Application>
  <PresentationFormat>Widescreen</PresentationFormat>
  <Paragraphs>356</Paragraphs>
  <Slides>14</Slides>
  <Notes>13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Aptos Mono</vt:lpstr>
      <vt:lpstr>Arial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 degli Studi di Cagliari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per la gestione degli eventi</dc:title>
  <dc:subject>Sistema per la gestione degli eventi</dc:subject>
  <dc:creator>OpenAI</dc:creator>
  <cp:lastModifiedBy>XINMIN GIUSEPPE FARANO</cp:lastModifiedBy>
  <cp:revision>52</cp:revision>
  <dcterms:created xsi:type="dcterms:W3CDTF">2026-07-23T12:29:06Z</dcterms:created>
  <dcterms:modified xsi:type="dcterms:W3CDTF">2026-07-26T09:22:51Z</dcterms:modified>
</cp:coreProperties>
</file>